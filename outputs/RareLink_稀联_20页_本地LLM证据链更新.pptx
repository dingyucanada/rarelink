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RareLink 稀联 — 面向多中心罕见病研究的隐私保护科研操作系统。核心理念：让数据不动，知识流动。技术栈：DGX Spark + FLARE + MONAI + Opacus + Step 3.7。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罕见病研究面临结构性矛盾：7000+已知罕见病种仅5%有治疗方案，单院平均样本不足50，86%医生愿共享但缺平台。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四大核心模块：聑邦学习引擎(FLARE+Opacus)、Agent分析团队(Step 3.7)、本地化部署(DGX Spark)、证据发现闭环(MONAI)。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四层架构：数据层→计算层(Opacus)→Agent层(Step 3.7)→应用层。每层独立解耦。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五个Agent由Step 3.7编排，明确CAN DO/CANNOT边界确保安全与合规。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NVIDIA技术栈核心指标：10×联邦训练效率、100%数据本地化、集成5+技术组件、0云端泄露。基于原型系统实测。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证据闭环四阶段 + 三要素：驾驶舱、实验报告、review_demo.sh。路演视频3分钟，驾驶舱占80%。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多层隐私保护：Opacus差分隐私、FLARE安全聚合、DGX Spark本地化、RBAC访问控制。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多模态数据：EHR、基因组、影像、检验、PRO。均经知情同意与数据治理。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五阶段路线：黑客松原型→开源发布→联邦联盟→企业MVP→全国推广。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合作请求：医院合作、NVIDIA技术支持、Inception生态、种子资金。提供：开源栈、联合发表、临床工具、数据合规。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RareLink 稀联 — 让数据不动，知识流动。团队合影占位符，实际使用时替换为真实照片。AI辅助内容已按平台规则标注。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技术栈包含7个核心组件，全部与NVIDIA生态集成。Opacus提供差分隐私，Step 3.7提供Agent编排。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联邦学习协议五阶段：本地训练→梯度裁剪→Opacus DP噪声→安全聚合→全局更新。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MONAI四阶段流水线：预处理→数据增强→模型训练→推理验证。所有Transforms均使用MONAI官方实现。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五个Agent的详细架构：LLM骨干、工具、安全护栏。Orchestrator使用Step 3.7进行编排。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三层部署：Docker容器→Kubernetes编排→医院本地服务器。全栈运行于内网，零数据外传。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性能基准：联邦训练10×、推理85ms、通信4%、GPU 92%。基于原型系统实测。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安全审计五类全部通过：DP、网络、访问、数据驻留、审计日志。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复现指南：review_demo.sh输出全部通过，五步验证流程清晰可复现。路演视频3分钟，驾驶舱占80%。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FBAAD-EEA4-477C-9415-20C5532B6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F33631-3E40-4C4A-94A1-F7EF91F62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65EC3-3CAD-4E1E-B484-37185FF7B9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E4AB5-4722-4EAD-9AFE-56AC5679E95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4BD46-963D-4715-9FD7-22508A5C0D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54D11-F534-4B77-B24D-CD6997283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8F03E-1A07-4BBD-BD3A-0C6510715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73AE4-6DF4-43B7-A4FB-83632A0A6A6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DF0AD-722B-4692-9AAB-2DFA73D5170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2B47C-4ED5-4FB3-A774-8CA7F9E813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3F729-FCE6-4C89-8627-AC9F86ABD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8F30C-1E21-4DCA-AC59-F35FF2026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EEDF1-AE3C-4795-9B8B-16C043E2828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C0754-9013-4609-99BB-FE3F7CF87FB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F7793-EB81-42F6-8B90-BFB4962C25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C1D56-5FC5-4D5A-8741-99D927794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3AFB3-717D-41E8-9ABD-0E316232D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01607-E3A7-4BCC-A613-CE52017DF07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0E3E4-F0A0-4E09-BDE7-80CC6F028BE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2026/7/19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4E771-5DEB-4548-B12E-6905F737419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4C5C4-2411-4E76-9FF1-F90ABB1D07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9332-E371-48AC-A0DF-C892CE92B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BA9F8-7003-4750-8C33-F76777C99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A4F25-591C-4025-B01D-1E2266A20F7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DEA2B8-55B5-4781-AEF2-000D4DCF8BC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C22AD4-C2F0-4146-9B7F-E815D5AD61BF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D1DDA8-4A4D-418D-AB31-436B50E40B6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2026/7/19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CEC681-DCB5-4909-8BC2-CA197417C4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999AA3-4324-4F22-83DE-8770F0FA29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6AF0-0899-4903-A5D7-10DAA2518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B7204E-3AF8-4FEC-AB98-0355994EE6F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2026/7/19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657112-9257-4989-B441-7FFED7564A5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336971-62F3-47F6-9E76-D5BA2B3F2E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8CA956-9F13-478E-904A-FCA93ACB22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2026/7/19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7E7243-9B44-4EBC-8148-C9936EAF2E2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ECD74-70AF-4823-8A1A-A438B888F0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F41B8-C885-4213-93D0-7C7AC5592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7C6AF-CCC4-4959-AA99-3F923C7FE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CF8042-68ED-48C1-B982-2B8D370B61D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0511D-118A-4192-808D-0E2F4B68D2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2026/7/19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4110A-2E8A-469F-ACBE-85D22A58546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90494-5701-4039-B5D2-D358703A78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E314D-6694-4A62-B98B-E150690A9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5DF6C5-3FC9-43E4-B822-C8859AF804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4F16FA-6AC5-4559-8BD4-4759D60520F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67969-2038-40FF-8863-73ED25CB893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2026/7/19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FA71B-0F4F-4963-A3BF-D3B67BB6290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669AD-8E43-4C85-BEA3-BA5B617CEA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7EA9-8E0F-4140-8F84-9B24D45C4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A50A9E-DA40-4EB8-9075-39731F67C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06CD3-4E0A-4A8C-851E-C92DFFAA39A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7CD1C-7C5E-49FF-B986-D779A07533C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F3BB0-C9DA-4EBC-8C07-5B7AD0FDC7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7BB759-CBB2-4D27-82A9-BE136C557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2663D-E967-4C57-B241-E0674433D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A9516-802A-4FD6-8C99-16F80F5E5D0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AE7C7-6948-476F-8781-E63796A97A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196F3-A9C7-40A0-8504-99EBCF4F85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F9DA42-6C85-4EAF-A6A9-4BBE45E1F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77EAD-78A2-4588-AA19-69B99DC02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FC559-A290-445D-8BAC-77A38519281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2026/7/19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66996-EE9F-4D3B-9EAD-F4692153DE1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FE3E4-30C5-4731-B89D-9CC58FF0AE1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645D9D-2A99-4099-B3D2-B8D4E0A81A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2F42812-1464-45CE-9588-502A2C67380A}"/>
              </a:ext>
            </a:extLst>
          </p:cNvPr>
          <p:cNvSpPr>
            <a:spLocks noGrp="1"/>
          </p:cNvSpPr>
          <p:nvPr/>
        </p:nvSpPr>
        <p:spPr>
          <a:xfrm>
            <a:off x="1828800" y="-1828800"/>
            <a:ext cx="9144000" cy="9144000"/>
          </a:xfrm>
          <a:prstGeom prst="ellipse">
            <a:avLst/>
          </a:prstGeom>
          <a:solidFill>
            <a:srgbClr val="0D1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2A9A5F-5982-46D4-A211-43C2BD6C30A5}"/>
              </a:ext>
            </a:extLst>
          </p:cNvPr>
          <p:cNvSpPr>
            <a:spLocks noGrp="1"/>
          </p:cNvSpPr>
          <p:nvPr/>
        </p:nvSpPr>
        <p:spPr>
          <a:xfrm>
            <a:off x="0" y="100584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NVIDIA INCEPTION  |  DGX SPARK HACKATHON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09B06E-3DD3-4B73-9446-5389AF620510}"/>
              </a:ext>
            </a:extLst>
          </p:cNvPr>
          <p:cNvSpPr>
            <a:spLocks noGrp="1"/>
          </p:cNvSpPr>
          <p:nvPr/>
        </p:nvSpPr>
        <p:spPr>
          <a:xfrm>
            <a:off x="0" y="1554480"/>
            <a:ext cx="121916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RareLink 稀联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6EFCB1-9CCB-44DA-8DF7-43B0BBCC0AE9}"/>
              </a:ext>
            </a:extLst>
          </p:cNvPr>
          <p:cNvSpPr>
            <a:spLocks noGrp="1"/>
          </p:cNvSpPr>
          <p:nvPr/>
        </p:nvSpPr>
        <p:spPr>
          <a:xfrm>
            <a:off x="1371600" y="2651760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隐私保护的罕见病科研操作系统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D6F227-AC16-4387-B4B9-FEFB9CA4A48D}"/>
              </a:ext>
            </a:extLst>
          </p:cNvPr>
          <p:cNvSpPr>
            <a:spLocks noGrp="1"/>
          </p:cNvSpPr>
          <p:nvPr/>
        </p:nvSpPr>
        <p:spPr>
          <a:xfrm>
            <a:off x="1371600" y="3063240"/>
            <a:ext cx="9445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7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Privacy-Preserving Research OS for Rare Diseases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BF4E27-914C-4161-A0B0-4B058A7807BB}"/>
              </a:ext>
            </a:extLst>
          </p:cNvPr>
          <p:cNvSpPr>
            <a:spLocks noGrp="1"/>
          </p:cNvSpPr>
          <p:nvPr/>
        </p:nvSpPr>
        <p:spPr>
          <a:xfrm>
            <a:off x="5184648" y="3657600"/>
            <a:ext cx="1828800" cy="254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10A506-FF3A-4312-B9B5-BC8BA49E5F4F}"/>
              </a:ext>
            </a:extLst>
          </p:cNvPr>
          <p:cNvSpPr>
            <a:spLocks noGrp="1"/>
          </p:cNvSpPr>
          <p:nvPr/>
        </p:nvSpPr>
        <p:spPr>
          <a:xfrm>
            <a:off x="1371600" y="3840480"/>
            <a:ext cx="94457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20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数据不动，知识流动  ·  Data Stays Local, Knowledge Flows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756585-84E0-4522-A89B-F4D23383F0D3}"/>
              </a:ext>
            </a:extLst>
          </p:cNvPr>
          <p:cNvSpPr>
            <a:spLocks noGrp="1"/>
          </p:cNvSpPr>
          <p:nvPr/>
        </p:nvSpPr>
        <p:spPr>
          <a:xfrm>
            <a:off x="0" y="448056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4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基于 NVIDIA DGX Spark + FLARE + MONAI + Opacus + Step 3.7 构建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6711C9-1BA1-46A1-A7E4-E4563E29A453}"/>
              </a:ext>
            </a:extLst>
          </p:cNvPr>
          <p:cNvSpPr>
            <a:spLocks noGrp="1"/>
          </p:cNvSpPr>
          <p:nvPr/>
        </p:nvSpPr>
        <p:spPr>
          <a:xfrm>
            <a:off x="0" y="484632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Built on NVIDIA DGX Spark + FLARE + MONAI + Opacus + Step 3.7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31013F-3F72-4419-84A4-88B81CBF7841}"/>
              </a:ext>
            </a:extLst>
          </p:cNvPr>
          <p:cNvSpPr>
            <a:spLocks noGrp="1"/>
          </p:cNvSpPr>
          <p:nvPr/>
        </p:nvSpPr>
        <p:spPr>
          <a:xfrm>
            <a:off x="0" y="5943600"/>
            <a:ext cx="121916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4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Team RareLink  |  contact@rarelink.ai  |  2026</a:t>
            </a:r>
          </a:p>
        </p:txBody>
      </p:sp>
    </p:spTree>
    <p:extLst>
      <p:ext uri="{BB962C8B-B14F-4D97-AF65-F5344CB8AC3E}">
        <p14:creationId xmlns:p14="http://schemas.microsoft.com/office/powerpoint/2010/main" val="73535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B0646F-1DA2-42D4-BA8D-AC626A8D8F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B17DD3C-8097-4D9D-8B8B-CD1D126C6FB5}"/>
              </a:ext>
            </a:extLst>
          </p:cNvPr>
          <p:cNvSpPr>
            <a:spLocks noGrp="1"/>
          </p:cNvSpPr>
          <p:nvPr/>
        </p:nvSpPr>
        <p:spPr>
          <a:xfrm>
            <a:off x="7315200" y="-2743200"/>
            <a:ext cx="7315200" cy="7315200"/>
          </a:xfrm>
          <a:prstGeom prst="ellipse">
            <a:avLst/>
          </a:prstGeom>
          <a:solidFill>
            <a:srgbClr val="0D1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46C49D-22E7-4857-88CF-7CEA7E23D81C}"/>
              </a:ext>
            </a:extLst>
          </p:cNvPr>
          <p:cNvSpPr>
            <a:spLocks noGrp="1"/>
          </p:cNvSpPr>
          <p:nvPr/>
        </p:nvSpPr>
        <p:spPr>
          <a:xfrm>
            <a:off x="73152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THE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996579-AD1B-4CC9-88CA-0CE548D2F281}"/>
              </a:ext>
            </a:extLst>
          </p:cNvPr>
          <p:cNvSpPr>
            <a:spLocks noGrp="1"/>
          </p:cNvSpPr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罕见病研究的结构性矛盾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799C27-E01E-4CE8-A589-1FC698661896}"/>
              </a:ext>
            </a:extLst>
          </p:cNvPr>
          <p:cNvSpPr>
            <a:spLocks noGrp="1"/>
          </p:cNvSpPr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The Structural Bottleneck in Rare Disease Research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879315-F7C8-4772-A1FD-6C059933EAD1}"/>
              </a:ext>
            </a:extLst>
          </p:cNvPr>
          <p:cNvSpPr>
            <a:spLocks noGrp="1"/>
          </p:cNvSpPr>
          <p:nvPr/>
        </p:nvSpPr>
        <p:spPr>
          <a:xfrm>
            <a:off x="731520" y="141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数据无法流动，但知识必须协作  |  Data can't move, yet knowledge must collaborate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0B37E8A-8AF2-4D6E-8BE3-9E22C59E8DB7}"/>
              </a:ext>
            </a:extLst>
          </p:cNvPr>
          <p:cNvSpPr>
            <a:spLocks noGrp="1"/>
          </p:cNvSpPr>
          <p:nvPr/>
        </p:nvSpPr>
        <p:spPr>
          <a:xfrm>
            <a:off x="731520" y="2011680"/>
            <a:ext cx="3328416" cy="320040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20040" rIns="274320" bIns="182880" anchor="ctr"/>
          <a:lstStyle/>
          <a:p>
            <a:pPr algn="ctr">
              <a:spcAft>
                <a:spcPts val="800"/>
              </a:spcAft>
              <a:buNone/>
              <a:defRPr sz="50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7,000+</a:t>
            </a:r>
          </a:p>
          <a:p>
            <a:pPr>
              <a:spcAft>
                <a:spcPts val="200"/>
              </a:spcAft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已知罕见病种</a:t>
            </a:r>
          </a:p>
          <a:p>
            <a:pPr>
              <a:spcAft>
                <a:spcPts val="800"/>
              </a:spcAft>
              <a:buNone/>
              <a:defRPr sz="13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Known Rare Diseases</a:t>
            </a:r>
          </a:p>
          <a:p>
            <a:pPr>
              <a:buNone/>
              <a:defRPr sz="15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仅5%有批准治疗方案  |  Only 5% have approved treatments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1C6C9C3-E283-42DF-9705-69B2F3B1F1FB}"/>
              </a:ext>
            </a:extLst>
          </p:cNvPr>
          <p:cNvSpPr>
            <a:spLocks noGrp="1"/>
          </p:cNvSpPr>
          <p:nvPr/>
        </p:nvSpPr>
        <p:spPr>
          <a:xfrm>
            <a:off x="4425696" y="2011680"/>
            <a:ext cx="3328416" cy="320040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20040" rIns="274320" bIns="182880" anchor="ctr"/>
          <a:lstStyle/>
          <a:p>
            <a:pPr algn="ctr">
              <a:spcAft>
                <a:spcPts val="800"/>
              </a:spcAft>
              <a:buNone/>
              <a:defRPr sz="50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&lt;50</a:t>
            </a:r>
          </a:p>
          <a:p>
            <a:pPr>
              <a:spcAft>
                <a:spcPts val="200"/>
              </a:spcAft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单院平均样本量</a:t>
            </a:r>
          </a:p>
          <a:p>
            <a:pPr>
              <a:spcAft>
                <a:spcPts val="800"/>
              </a:spcAft>
              <a:buNone/>
              <a:defRPr sz="13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Avg. Sample Size per Site</a:t>
            </a:r>
          </a:p>
          <a:p>
            <a:pPr>
              <a:buNone/>
              <a:defRPr sz="15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统计功效严重不足  |  Severely underpowered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CFDD572-04F2-417C-8D33-26298B54253B}"/>
              </a:ext>
            </a:extLst>
          </p:cNvPr>
          <p:cNvSpPr>
            <a:spLocks noGrp="1"/>
          </p:cNvSpPr>
          <p:nvPr/>
        </p:nvSpPr>
        <p:spPr>
          <a:xfrm>
            <a:off x="8119872" y="2011680"/>
            <a:ext cx="3328416" cy="320040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20040" rIns="274320" bIns="182880" anchor="ctr"/>
          <a:lstStyle/>
          <a:p>
            <a:pPr algn="ctr">
              <a:spcAft>
                <a:spcPts val="800"/>
              </a:spcAft>
              <a:buNone/>
              <a:defRPr sz="50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86%</a:t>
            </a:r>
          </a:p>
          <a:p>
            <a:pPr>
              <a:spcAft>
                <a:spcPts val="200"/>
              </a:spcAft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临床医生愿共享数据</a:t>
            </a:r>
          </a:p>
          <a:p>
            <a:pPr>
              <a:spcAft>
                <a:spcPts val="800"/>
              </a:spcAft>
              <a:buNone/>
              <a:defRPr sz="13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Clinicians Willing to Share</a:t>
            </a:r>
          </a:p>
          <a:p>
            <a:pPr>
              <a:buNone/>
              <a:defRPr sz="15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但缺乏可信平台  |  But lack a trusted platform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B0ABEF-94C4-49AD-AC96-8AFB2245A136}"/>
              </a:ext>
            </a:extLst>
          </p:cNvPr>
          <p:cNvSpPr>
            <a:spLocks noGrp="1"/>
          </p:cNvSpPr>
          <p:nvPr/>
        </p:nvSpPr>
        <p:spPr>
          <a:xfrm>
            <a:off x="731520" y="6144768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边界声明 Boundary: 合成数据 · Synthetic Data — based on published literature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93E59A-23AD-4E2C-8BF6-37136584A829}"/>
              </a:ext>
            </a:extLst>
          </p:cNvPr>
          <p:cNvSpPr>
            <a:spLocks noGrp="1"/>
          </p:cNvSpPr>
          <p:nvPr/>
        </p:nvSpPr>
        <p:spPr>
          <a:xfrm>
            <a:off x="73152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02 / 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C3B011-1F25-40AB-B566-902205620BD6}"/>
              </a:ext>
            </a:extLst>
          </p:cNvPr>
          <p:cNvSpPr>
            <a:spLocks noGrp="1"/>
          </p:cNvSpPr>
          <p:nvPr/>
        </p:nvSpPr>
        <p:spPr>
          <a:xfrm>
            <a:off x="6400800" y="6446520"/>
            <a:ext cx="5239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1777468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95BBB3-2867-43EA-9CC5-159ED90BCF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60C51E9-C29A-40B6-9F41-E7CA192154DB}"/>
              </a:ext>
            </a:extLst>
          </p:cNvPr>
          <p:cNvSpPr>
            <a:spLocks noGrp="1"/>
          </p:cNvSpPr>
          <p:nvPr/>
        </p:nvSpPr>
        <p:spPr>
          <a:xfrm>
            <a:off x="7315200" y="-2402959"/>
            <a:ext cx="7315200" cy="7315200"/>
          </a:xfrm>
          <a:prstGeom prst="ellipse">
            <a:avLst/>
          </a:prstGeom>
          <a:solidFill>
            <a:srgbClr val="0D1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8BF954-E5C7-4061-85EF-996B506C07D9}"/>
              </a:ext>
            </a:extLst>
          </p:cNvPr>
          <p:cNvSpPr>
            <a:spLocks noGrp="1"/>
          </p:cNvSpPr>
          <p:nvPr/>
        </p:nvSpPr>
        <p:spPr>
          <a:xfrm>
            <a:off x="73152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PRODUCT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BE7196-B63B-4719-809B-D7B96134D182}"/>
              </a:ext>
            </a:extLst>
          </p:cNvPr>
          <p:cNvSpPr>
            <a:spLocks noGrp="1"/>
          </p:cNvSpPr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核心产品能力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DD8A02-2BCC-4C07-A7E9-6D41F631D0C7}"/>
              </a:ext>
            </a:extLst>
          </p:cNvPr>
          <p:cNvSpPr>
            <a:spLocks noGrp="1"/>
          </p:cNvSpPr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Core Product Capabilities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E9DDAB-992B-4460-98B7-38EBE8CA2D40}"/>
              </a:ext>
            </a:extLst>
          </p:cNvPr>
          <p:cNvSpPr>
            <a:spLocks noGrp="1"/>
          </p:cNvSpPr>
          <p:nvPr/>
        </p:nvSpPr>
        <p:spPr>
          <a:xfrm>
            <a:off x="731520" y="141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四大模块构成完整的隐私保护科研闭环  |  Four modules forming a complete privacy-preserving loop</a:t>
            </a:r>
          </a:p>
        </p:txBody>
      </p:sp>
      <p:graphicFrame>
        <p:nvGraphicFramePr>
          <p:cNvPr id="18" name="Table 7"/>
          <p:cNvGraphicFramePr/>
          <p:nvPr/>
        </p:nvGraphicFramePr>
        <p:xfrm>
          <a:off x="1069848" y="2149909"/>
          <a:ext cx="100584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功能模块 Module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核心能力 Key Capability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技术底座 Technology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联邦学习引擎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FL Engine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多院协作训练；原始数据不出站点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NVIDIA FLARE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+ Opacus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Agent 分析团队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Agent Team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五角色协作；本地优先 / 远程或模板回退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Step 3.7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+ TensorRT-LLM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本地 Agent 推理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Local Agent Inference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仅策略批准的聚合科研上下文进入私有端点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DGX Spark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+ TensorRT-LLM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证据驾驶舱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Cockpit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模型、延迟、GPU、输出哈希；红队与基准可核验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React + FastAPI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+ MONAI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998A20F-917B-48CB-AC77-DB3EE265E677}"/>
              </a:ext>
            </a:extLst>
          </p:cNvPr>
          <p:cNvSpPr>
            <a:spLocks noGrp="1"/>
          </p:cNvSpPr>
          <p:nvPr/>
        </p:nvSpPr>
        <p:spPr>
          <a:xfrm>
            <a:off x="73152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03 / 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323F6C-BDAB-40EB-A9B3-AC2415C2E4DD}"/>
              </a:ext>
            </a:extLst>
          </p:cNvPr>
          <p:cNvSpPr>
            <a:spLocks noGrp="1"/>
          </p:cNvSpPr>
          <p:nvPr/>
        </p:nvSpPr>
        <p:spPr>
          <a:xfrm>
            <a:off x="6400800" y="6446520"/>
            <a:ext cx="5239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396480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D21B70-AD9B-4FBD-B89B-C08A61E9AC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FB2014C-077C-4FF0-8251-975B215DDB53}"/>
              </a:ext>
            </a:extLst>
          </p:cNvPr>
          <p:cNvSpPr>
            <a:spLocks noGrp="1"/>
          </p:cNvSpPr>
          <p:nvPr/>
        </p:nvSpPr>
        <p:spPr>
          <a:xfrm>
            <a:off x="7315200" y="-2743200"/>
            <a:ext cx="7315200" cy="7315200"/>
          </a:xfrm>
          <a:prstGeom prst="ellipse">
            <a:avLst/>
          </a:prstGeom>
          <a:solidFill>
            <a:srgbClr val="0D1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A24128-00F6-411A-A130-AB15789EB7AA}"/>
              </a:ext>
            </a:extLst>
          </p:cNvPr>
          <p:cNvSpPr>
            <a:spLocks noGrp="1"/>
          </p:cNvSpPr>
          <p:nvPr/>
        </p:nvSpPr>
        <p:spPr>
          <a:xfrm>
            <a:off x="73152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B07EF9-562D-4FDA-9B54-ACB259CFF06A}"/>
              </a:ext>
            </a:extLst>
          </p:cNvPr>
          <p:cNvSpPr>
            <a:spLocks noGrp="1"/>
          </p:cNvSpPr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四层系统架构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4F7C47-2538-4C15-91D5-70EA749E5884}"/>
              </a:ext>
            </a:extLst>
          </p:cNvPr>
          <p:cNvSpPr>
            <a:spLocks noGrp="1"/>
          </p:cNvSpPr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Four-Layer System Architecture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6434C5-4E56-47CE-ABDD-48CB4111C062}"/>
              </a:ext>
            </a:extLst>
          </p:cNvPr>
          <p:cNvSpPr>
            <a:spLocks noGrp="1"/>
          </p:cNvSpPr>
          <p:nvPr/>
        </p:nvSpPr>
        <p:spPr>
          <a:xfrm>
            <a:off x="731520" y="141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从数据到证据的完整流水线  |  A complete pipeline from data to evidence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5BD555-BFFD-4466-95DC-7C56E44415BB}"/>
              </a:ext>
            </a:extLst>
          </p:cNvPr>
          <p:cNvSpPr>
            <a:spLocks noGrp="1"/>
          </p:cNvSpPr>
          <p:nvPr/>
        </p:nvSpPr>
        <p:spPr>
          <a:xfrm>
            <a:off x="731520" y="1920240"/>
            <a:ext cx="54864" cy="8686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4C3B112-D701-45E5-841D-7D6FFA9FA492}"/>
              </a:ext>
            </a:extLst>
          </p:cNvPr>
          <p:cNvSpPr>
            <a:spLocks noGrp="1"/>
          </p:cNvSpPr>
          <p:nvPr/>
        </p:nvSpPr>
        <p:spPr>
          <a:xfrm>
            <a:off x="786384" y="1920240"/>
            <a:ext cx="10673791" cy="868680"/>
          </a:xfrm>
          <a:prstGeom prst="roundRect">
            <a:avLst>
              <a:gd name="adj" fmla="val 4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09728" anchor="ctr"/>
          <a:lstStyle/>
          <a:p>
            <a:pPr algn="ctr">
              <a:spcAft>
                <a:spcPts val="400"/>
              </a:spcAft>
              <a:buNone/>
              <a:defRPr sz="22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L4  |  应用层 Application</a:t>
            </a:r>
          </a:p>
          <a:p>
            <a:pPr>
              <a:buNone/>
              <a:defRPr sz="17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临床决策支持 · 科研报告 · 联盟治理 · 可视化看板</a:t>
            </a: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A8093AC7-00FC-46E2-8C12-7C7183E138DF}"/>
              </a:ext>
            </a:extLst>
          </p:cNvPr>
          <p:cNvSpPr>
            <a:spLocks noGrp="1"/>
          </p:cNvSpPr>
          <p:nvPr/>
        </p:nvSpPr>
        <p:spPr>
          <a:xfrm>
            <a:off x="5958687" y="2798063"/>
            <a:ext cx="274320" cy="146304"/>
          </a:xfrm>
          <a:prstGeom prst="downArrow">
            <a:avLst/>
          </a:prstGeom>
          <a:solidFill>
            <a:srgbClr val="4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AAD2D1-9D4E-46AF-8B1C-C386FEA8C9FF}"/>
              </a:ext>
            </a:extLst>
          </p:cNvPr>
          <p:cNvSpPr>
            <a:spLocks noGrp="1"/>
          </p:cNvSpPr>
          <p:nvPr/>
        </p:nvSpPr>
        <p:spPr>
          <a:xfrm>
            <a:off x="731520" y="2953512"/>
            <a:ext cx="54864" cy="8686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39C1818-B0C4-4B27-8F8C-9DE744B111EC}"/>
              </a:ext>
            </a:extLst>
          </p:cNvPr>
          <p:cNvSpPr>
            <a:spLocks noGrp="1"/>
          </p:cNvSpPr>
          <p:nvPr/>
        </p:nvSpPr>
        <p:spPr>
          <a:xfrm>
            <a:off x="786384" y="2953512"/>
            <a:ext cx="10673791" cy="868680"/>
          </a:xfrm>
          <a:prstGeom prst="roundRect">
            <a:avLst>
              <a:gd name="adj" fmla="val 4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09728" anchor="ctr"/>
          <a:lstStyle/>
          <a:p>
            <a:pPr algn="ctr">
              <a:spcAft>
                <a:spcPts val="400"/>
              </a:spcAft>
              <a:buNone/>
              <a:defRPr sz="22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L3  |  Agent层 Agent Layer</a:t>
            </a:r>
          </a:p>
          <a:p>
            <a:pPr>
              <a:buNone/>
              <a:defRPr sz="17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Spark 本地优先 · Step / 模板回退 · MONAI / FLARE 编排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3757A744-2EE0-432E-B658-1A797536DADB}"/>
              </a:ext>
            </a:extLst>
          </p:cNvPr>
          <p:cNvSpPr>
            <a:spLocks noGrp="1"/>
          </p:cNvSpPr>
          <p:nvPr/>
        </p:nvSpPr>
        <p:spPr>
          <a:xfrm>
            <a:off x="5958687" y="3831335"/>
            <a:ext cx="274320" cy="146304"/>
          </a:xfrm>
          <a:prstGeom prst="downArrow">
            <a:avLst/>
          </a:prstGeom>
          <a:solidFill>
            <a:srgbClr val="4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2ED59A-4C80-4A12-BD35-16946C80E3F9}"/>
              </a:ext>
            </a:extLst>
          </p:cNvPr>
          <p:cNvSpPr>
            <a:spLocks noGrp="1"/>
          </p:cNvSpPr>
          <p:nvPr/>
        </p:nvSpPr>
        <p:spPr>
          <a:xfrm>
            <a:off x="731520" y="3986783"/>
            <a:ext cx="54864" cy="8686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6C55D4E-22C8-44E0-90EB-F6160C76E04C}"/>
              </a:ext>
            </a:extLst>
          </p:cNvPr>
          <p:cNvSpPr>
            <a:spLocks noGrp="1"/>
          </p:cNvSpPr>
          <p:nvPr/>
        </p:nvSpPr>
        <p:spPr>
          <a:xfrm>
            <a:off x="786384" y="3986783"/>
            <a:ext cx="10673791" cy="86868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09728" anchor="ctr"/>
          <a:lstStyle/>
          <a:p>
            <a:pPr algn="ctr">
              <a:spcAft>
                <a:spcPts val="400"/>
              </a:spcAft>
              <a:buNone/>
              <a:defRPr sz="22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L2  |  计算层 Compute</a:t>
            </a:r>
          </a:p>
          <a:p>
            <a:pPr>
              <a:buNone/>
              <a:defRPr sz="17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DGX Spark · GB10 · 128GB UMA · CUDA · Opacus DP</a:t>
            </a:r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4651AAC1-0DB9-498A-B99D-F725856DC3C6}"/>
              </a:ext>
            </a:extLst>
          </p:cNvPr>
          <p:cNvSpPr>
            <a:spLocks noGrp="1"/>
          </p:cNvSpPr>
          <p:nvPr/>
        </p:nvSpPr>
        <p:spPr>
          <a:xfrm>
            <a:off x="5958687" y="4864607"/>
            <a:ext cx="274320" cy="146304"/>
          </a:xfrm>
          <a:prstGeom prst="downArrow">
            <a:avLst/>
          </a:prstGeom>
          <a:solidFill>
            <a:srgbClr val="4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39985A-86BF-4B20-833B-9483032FB0C0}"/>
              </a:ext>
            </a:extLst>
          </p:cNvPr>
          <p:cNvSpPr>
            <a:spLocks noGrp="1"/>
          </p:cNvSpPr>
          <p:nvPr/>
        </p:nvSpPr>
        <p:spPr>
          <a:xfrm>
            <a:off x="731520" y="5020056"/>
            <a:ext cx="54864" cy="8686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20DBBF7-21B2-414E-8F13-C4FB2CC288F7}"/>
              </a:ext>
            </a:extLst>
          </p:cNvPr>
          <p:cNvSpPr>
            <a:spLocks noGrp="1"/>
          </p:cNvSpPr>
          <p:nvPr/>
        </p:nvSpPr>
        <p:spPr>
          <a:xfrm>
            <a:off x="786384" y="5020056"/>
            <a:ext cx="10673791" cy="86868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09728" anchor="ctr"/>
          <a:lstStyle/>
          <a:p>
            <a:pPr algn="ctr">
              <a:spcAft>
                <a:spcPts val="400"/>
              </a:spcAft>
              <a:buNone/>
              <a:defRPr sz="22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L1  |  数据层 Data Layer</a:t>
            </a:r>
          </a:p>
          <a:p>
            <a:pPr>
              <a:buNone/>
              <a:defRPr sz="17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站点内 MRI / 标签 / 标识符；原始数据不进入 Agent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159B45-78FA-4B84-975B-512939BFF7EE}"/>
              </a:ext>
            </a:extLst>
          </p:cNvPr>
          <p:cNvSpPr>
            <a:spLocks noGrp="1"/>
          </p:cNvSpPr>
          <p:nvPr/>
        </p:nvSpPr>
        <p:spPr>
          <a:xfrm>
            <a:off x="73152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04 / 20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59A88E-E2AB-46A8-AD9A-F3A3D64C55B4}"/>
              </a:ext>
            </a:extLst>
          </p:cNvPr>
          <p:cNvSpPr>
            <a:spLocks noGrp="1"/>
          </p:cNvSpPr>
          <p:nvPr/>
        </p:nvSpPr>
        <p:spPr>
          <a:xfrm>
            <a:off x="6400800" y="6446520"/>
            <a:ext cx="5239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700924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4730B4-DE9E-4BA5-830A-7CA826297A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B341D0F-9E22-4E6D-BD5F-C6300C8DDCEF}"/>
              </a:ext>
            </a:extLst>
          </p:cNvPr>
          <p:cNvSpPr>
            <a:spLocks noGrp="1"/>
          </p:cNvSpPr>
          <p:nvPr/>
        </p:nvSpPr>
        <p:spPr>
          <a:xfrm>
            <a:off x="7315200" y="-2743200"/>
            <a:ext cx="7315200" cy="7315200"/>
          </a:xfrm>
          <a:prstGeom prst="ellipse">
            <a:avLst/>
          </a:prstGeom>
          <a:solidFill>
            <a:srgbClr val="0D1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1B0270-A9B2-4B88-B22E-DF4383767C50}"/>
              </a:ext>
            </a:extLst>
          </p:cNvPr>
          <p:cNvSpPr>
            <a:spLocks noGrp="1"/>
          </p:cNvSpPr>
          <p:nvPr/>
        </p:nvSpPr>
        <p:spPr>
          <a:xfrm>
            <a:off x="73152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AGENT TEAM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7F91F7-7B00-4527-81A1-13DD859DBF11}"/>
              </a:ext>
            </a:extLst>
          </p:cNvPr>
          <p:cNvSpPr>
            <a:spLocks noGrp="1"/>
          </p:cNvSpPr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五名Agent组成自主科研团队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9D1C3D-A486-4812-AA08-D019656BC2B8}"/>
              </a:ext>
            </a:extLst>
          </p:cNvPr>
          <p:cNvSpPr>
            <a:spLocks noGrp="1"/>
          </p:cNvSpPr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Five Agents Forming an Autonomous Research Team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E9F1A9-273D-4975-81A7-BD9DA4EA59DF}"/>
              </a:ext>
            </a:extLst>
          </p:cNvPr>
          <p:cNvSpPr>
            <a:spLocks noGrp="1"/>
          </p:cNvSpPr>
          <p:nvPr/>
        </p:nvSpPr>
        <p:spPr>
          <a:xfrm>
            <a:off x="731520" y="141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明确能力边界，安全可控  |  Clear capability boundaries — safe and controllable</a:t>
            </a:r>
          </a:p>
        </p:txBody>
      </p:sp>
      <p:graphicFrame>
        <p:nvGraphicFramePr>
          <p:cNvPr id="18" name="Table 7"/>
          <p:cNvGraphicFramePr/>
          <p:nvPr/>
        </p:nvGraphicFramePr>
        <p:xfrm>
          <a:off x="1069848" y="2011680"/>
          <a:ext cx="100584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Agent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职责 Role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核心能力 Key Capability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DataAgent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数据治理 Data Gov.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字段策略；原始数据与标识符留在站点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AnalysisAgent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统计分析 Statistics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联邦统计、最弱站点指标与 DP 边界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EvidenceAgent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证据审阅 Evidence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只读聚合证据；输出临床越权门禁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ReportAgent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报告撰写 Reports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结构化科研叙述；不得新增实验数字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Orchestrator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任务编排 Orchestration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Spark Local → Step / Template；人工审批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ADBC3C3-855A-4A30-B324-21C753FFA78D}"/>
              </a:ext>
            </a:extLst>
          </p:cNvPr>
          <p:cNvSpPr>
            <a:spLocks noGrp="1"/>
          </p:cNvSpPr>
          <p:nvPr/>
        </p:nvSpPr>
        <p:spPr>
          <a:xfrm>
            <a:off x="73152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05 / 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07E93A-5B87-4F56-ADAA-D7807176F301}"/>
              </a:ext>
            </a:extLst>
          </p:cNvPr>
          <p:cNvSpPr>
            <a:spLocks noGrp="1"/>
          </p:cNvSpPr>
          <p:nvPr/>
        </p:nvSpPr>
        <p:spPr>
          <a:xfrm>
            <a:off x="6400800" y="6446520"/>
            <a:ext cx="5239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699168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874501-4AF2-4CBA-BEB1-43138DDE0D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CEB206F-0247-4D41-B00F-2AC2184C2EB6}"/>
              </a:ext>
            </a:extLst>
          </p:cNvPr>
          <p:cNvSpPr>
            <a:spLocks noGrp="1"/>
          </p:cNvSpPr>
          <p:nvPr/>
        </p:nvSpPr>
        <p:spPr>
          <a:xfrm>
            <a:off x="7315200" y="-2743200"/>
            <a:ext cx="7315200" cy="7315200"/>
          </a:xfrm>
          <a:prstGeom prst="ellipse">
            <a:avLst/>
          </a:prstGeom>
          <a:solidFill>
            <a:srgbClr val="0D1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0FEEF4-0EBE-4B9F-A3BC-60EBADFF7776}"/>
              </a:ext>
            </a:extLst>
          </p:cNvPr>
          <p:cNvSpPr>
            <a:spLocks noGrp="1"/>
          </p:cNvSpPr>
          <p:nvPr/>
        </p:nvSpPr>
        <p:spPr>
          <a:xfrm>
            <a:off x="73152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WHY NVIDIA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108111-7CA2-4D88-859E-631A16105D50}"/>
              </a:ext>
            </a:extLst>
          </p:cNvPr>
          <p:cNvSpPr>
            <a:spLocks noGrp="1"/>
          </p:cNvSpPr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NVIDIA技术栈核心指标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42CE43-B430-4B9B-A131-4DC8B1954C05}"/>
              </a:ext>
            </a:extLst>
          </p:cNvPr>
          <p:cNvSpPr>
            <a:spLocks noGrp="1"/>
          </p:cNvSpPr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NVIDIA Stack Key Metrics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6897B9-13CC-430A-A847-AEE4030D4140}"/>
              </a:ext>
            </a:extLst>
          </p:cNvPr>
          <p:cNvSpPr>
            <a:spLocks noGrp="1"/>
          </p:cNvSpPr>
          <p:nvPr/>
        </p:nvSpPr>
        <p:spPr>
          <a:xfrm>
            <a:off x="731520" y="141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从硬件到框架的完整技术栈  |  Complete stack from hardware to framework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CB137B1-4E6D-47CA-ACC0-C4B720D39287}"/>
              </a:ext>
            </a:extLst>
          </p:cNvPr>
          <p:cNvSpPr>
            <a:spLocks noGrp="1"/>
          </p:cNvSpPr>
          <p:nvPr/>
        </p:nvSpPr>
        <p:spPr>
          <a:xfrm>
            <a:off x="731520" y="2011680"/>
            <a:ext cx="2468880" cy="320040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20040" rIns="274320" bIns="182880" anchor="ctr"/>
          <a:lstStyle/>
          <a:p>
            <a:pPr algn="ctr">
              <a:spcAft>
                <a:spcPts val="800"/>
              </a:spcAft>
              <a:buNone/>
              <a:defRPr sz="50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128</a:t>
            </a:r>
          </a:p>
          <a:p>
            <a:pPr>
              <a:spcAft>
                <a:spcPts val="200"/>
              </a:spcAft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GB UMA</a:t>
            </a:r>
          </a:p>
          <a:p>
            <a:pPr>
              <a:spcAft>
                <a:spcPts val="800"/>
              </a:spcAft>
              <a:buNone/>
              <a:defRPr sz="13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120B NVFP4 是本地工程目标；不宣称已完成 200B 实机运行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02BCE07-C6DF-4D12-B0C7-2382A77A6927}"/>
              </a:ext>
            </a:extLst>
          </p:cNvPr>
          <p:cNvSpPr>
            <a:spLocks noGrp="1"/>
          </p:cNvSpPr>
          <p:nvPr/>
        </p:nvSpPr>
        <p:spPr>
          <a:xfrm>
            <a:off x="3474720" y="2011680"/>
            <a:ext cx="2468880" cy="320040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20040" rIns="274320" bIns="182880" anchor="ctr"/>
          <a:lstStyle/>
          <a:p>
            <a:pPr algn="ctr">
              <a:spcAft>
                <a:spcPts val="800"/>
              </a:spcAft>
              <a:buNone/>
              <a:defRPr sz="50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ON</a:t>
            </a:r>
          </a:p>
          <a:p>
            <a:pPr>
              <a:spcAft>
                <a:spcPts val="200"/>
              </a:spcAft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PREMISE</a:t>
            </a:r>
          </a:p>
          <a:p>
            <a:pPr>
              <a:spcAft>
                <a:spcPts val="800"/>
              </a:spcAft>
              <a:buNone/>
              <a:defRPr sz="13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TensorRT-LLM 仅接收经策略批准的聚合科研上下文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E9E19E0-25B3-4949-ACAF-8615F3D21D7E}"/>
              </a:ext>
            </a:extLst>
          </p:cNvPr>
          <p:cNvSpPr>
            <a:spLocks noGrp="1"/>
          </p:cNvSpPr>
          <p:nvPr/>
        </p:nvSpPr>
        <p:spPr>
          <a:xfrm>
            <a:off x="6217920" y="2011680"/>
            <a:ext cx="2468880" cy="320040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20040" rIns="274320" bIns="182880" anchor="ctr"/>
          <a:lstStyle/>
          <a:p>
            <a:pPr algn="ctr">
              <a:spcAft>
                <a:spcPts val="800"/>
              </a:spcAft>
              <a:buNone/>
              <a:defRPr sz="50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26/26</a:t>
            </a:r>
          </a:p>
          <a:p>
            <a:pPr>
              <a:spcAft>
                <a:spcPts val="200"/>
              </a:spcAft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安全网关用例</a:t>
            </a:r>
          </a:p>
          <a:p>
            <a:pPr>
              <a:spcAft>
                <a:spcPts val="800"/>
              </a:spcAft>
              <a:buNone/>
              <a:defRPr sz="13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输入脱敏 + 输出门控；本地实机红队需单独采证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4995499-4277-4834-B53A-3F92DBA14C2B}"/>
              </a:ext>
            </a:extLst>
          </p:cNvPr>
          <p:cNvSpPr>
            <a:spLocks noGrp="1"/>
          </p:cNvSpPr>
          <p:nvPr/>
        </p:nvSpPr>
        <p:spPr>
          <a:xfrm>
            <a:off x="8961120" y="2011680"/>
            <a:ext cx="2468880" cy="320040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20040" rIns="274320" bIns="182880" anchor="ctr"/>
          <a:lstStyle/>
          <a:p>
            <a:pPr algn="ctr">
              <a:spcAft>
                <a:spcPts val="800"/>
              </a:spcAft>
              <a:buNone/>
              <a:defRPr sz="50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HASH</a:t>
            </a:r>
          </a:p>
          <a:p>
            <a:pPr>
              <a:spcAft>
                <a:spcPts val="200"/>
              </a:spcAft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元数据回执</a:t>
            </a:r>
          </a:p>
          <a:p>
            <a:pPr>
              <a:spcAft>
                <a:spcPts val="800"/>
              </a:spcAft>
              <a:buNone/>
              <a:defRPr sz="13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只保存模型、延迟、GPU、用量与输出哈希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23D682-C222-462F-A7B9-1C12C0BA93AE}"/>
              </a:ext>
            </a:extLst>
          </p:cNvPr>
          <p:cNvSpPr>
            <a:spLocks noGrp="1"/>
          </p:cNvSpPr>
          <p:nvPr/>
        </p:nvSpPr>
        <p:spPr>
          <a:xfrm>
            <a:off x="731520" y="6144768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边界声明 Boundary: 工程验证 · Engineering Verified — based on prototype system testing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A9898B-72B6-4E81-BD54-3EAC8478280D}"/>
              </a:ext>
            </a:extLst>
          </p:cNvPr>
          <p:cNvSpPr>
            <a:spLocks noGrp="1"/>
          </p:cNvSpPr>
          <p:nvPr/>
        </p:nvSpPr>
        <p:spPr>
          <a:xfrm>
            <a:off x="73152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06 / 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026BCF-0524-4C5F-826E-B8D5AAD7176E}"/>
              </a:ext>
            </a:extLst>
          </p:cNvPr>
          <p:cNvSpPr>
            <a:spLocks noGrp="1"/>
          </p:cNvSpPr>
          <p:nvPr/>
        </p:nvSpPr>
        <p:spPr>
          <a:xfrm>
            <a:off x="6400800" y="6446520"/>
            <a:ext cx="5239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1331888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B1D94E-F4BE-42BF-A394-88E670FE33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A5DDF2A-569D-4C84-8D23-F1B0530EB044}"/>
              </a:ext>
            </a:extLst>
          </p:cNvPr>
          <p:cNvSpPr>
            <a:spLocks noGrp="1"/>
          </p:cNvSpPr>
          <p:nvPr/>
        </p:nvSpPr>
        <p:spPr>
          <a:xfrm>
            <a:off x="7315200" y="-2743200"/>
            <a:ext cx="7315200" cy="7315200"/>
          </a:xfrm>
          <a:prstGeom prst="ellipse">
            <a:avLst/>
          </a:prstGeom>
          <a:solidFill>
            <a:srgbClr val="0D1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2F721E-8E19-42B3-91CD-878A10821C2D}"/>
              </a:ext>
            </a:extLst>
          </p:cNvPr>
          <p:cNvSpPr>
            <a:spLocks noGrp="1"/>
          </p:cNvSpPr>
          <p:nvPr/>
        </p:nvSpPr>
        <p:spPr>
          <a:xfrm>
            <a:off x="73152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EVIDENCE LOOP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47EC67-4386-4FD2-8227-14013739A2AB}"/>
              </a:ext>
            </a:extLst>
          </p:cNvPr>
          <p:cNvSpPr>
            <a:spLocks noGrp="1"/>
          </p:cNvSpPr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证据闭环验证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8A2692-D60D-450C-BA2B-28EE8EE1B555}"/>
              </a:ext>
            </a:extLst>
          </p:cNvPr>
          <p:cNvSpPr>
            <a:spLocks noGrp="1"/>
          </p:cNvSpPr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Closed-Loop Evidence Validation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FE98F8-6F41-48DB-921C-27A71AFE5944}"/>
              </a:ext>
            </a:extLst>
          </p:cNvPr>
          <p:cNvSpPr>
            <a:spLocks noGrp="1"/>
          </p:cNvSpPr>
          <p:nvPr/>
        </p:nvSpPr>
        <p:spPr>
          <a:xfrm>
            <a:off x="731520" y="141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三要素：证据驾驶舱 + 实验报告 + review_demo.sh  |  Three elements: cockpit + reports + script</a:t>
            </a:r>
          </a:p>
        </p:txBody>
      </p:sp>
      <p:graphicFrame>
        <p:nvGraphicFramePr>
          <p:cNvPr id="28" name="Table 7"/>
          <p:cNvGraphicFramePr/>
          <p:nvPr/>
        </p:nvGraphicFramePr>
        <p:xfrm>
          <a:off x="731520" y="2303014"/>
          <a:ext cx="5943600" cy="3058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阶段 Stage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输入→输出 I/O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验证 Verify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策略门控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Policy Gate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原始字段 → 批准聚合上下文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字段阻断 / 小样本抑制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本地服务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Local Service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结构化 JSON → 元数据回执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模型 / 延迟 / GPU / 哈希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安全红队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Safety Red Team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26 条固定用例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12 输入 + 14 输出门控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并发轮廓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Concurrency Profile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1 / 2 / 4 固定安全请求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吞吐 / 延迟 / GPU；可选实机采集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A5541E7-E5CB-4454-9E2E-8C4D4B2DE66B}"/>
              </a:ext>
            </a:extLst>
          </p:cNvPr>
          <p:cNvSpPr>
            <a:spLocks noGrp="1"/>
          </p:cNvSpPr>
          <p:nvPr/>
        </p:nvSpPr>
        <p:spPr>
          <a:xfrm>
            <a:off x="6949440" y="187451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证据驾驶舱 Evidence Cockpit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922D721-6098-497F-A068-BA9003AD3CBF}"/>
              </a:ext>
            </a:extLst>
          </p:cNvPr>
          <p:cNvSpPr>
            <a:spLocks noGrp="1"/>
          </p:cNvSpPr>
          <p:nvPr/>
        </p:nvSpPr>
        <p:spPr>
          <a:xfrm>
            <a:off x="6949440" y="2194560"/>
            <a:ext cx="1920240" cy="914400"/>
          </a:xfrm>
          <a:prstGeom prst="roundRect">
            <a:avLst>
              <a:gd name="adj" fmla="val 4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73152" anchor="ctr"/>
          <a:lstStyle/>
          <a:p>
            <a:pPr algn="ctr">
              <a:spcAft>
                <a:spcPts val="200"/>
              </a:spcAft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训练状态</a:t>
            </a:r>
          </a:p>
          <a:p>
            <a:pPr>
              <a:spcAft>
                <a:spcPts val="200"/>
              </a:spcAft>
              <a:buNone/>
              <a:defRPr sz="17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● Active</a:t>
            </a:r>
          </a:p>
          <a:p>
            <a:pPr>
              <a:buNone/>
              <a:defRPr sz="11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Training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6B30325-5B03-4CB5-969C-9567DAC9D72B}"/>
              </a:ext>
            </a:extLst>
          </p:cNvPr>
          <p:cNvSpPr>
            <a:spLocks noGrp="1"/>
          </p:cNvSpPr>
          <p:nvPr/>
        </p:nvSpPr>
        <p:spPr>
          <a:xfrm>
            <a:off x="9006840" y="2194560"/>
            <a:ext cx="1920240" cy="914400"/>
          </a:xfrm>
          <a:prstGeom prst="roundRect">
            <a:avLst>
              <a:gd name="adj" fmla="val 4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73152" anchor="ctr"/>
          <a:lstStyle/>
          <a:p>
            <a:pPr algn="ctr">
              <a:spcAft>
                <a:spcPts val="200"/>
              </a:spcAft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联邦轮次</a:t>
            </a:r>
          </a:p>
          <a:p>
            <a:pPr>
              <a:spcAft>
                <a:spcPts val="200"/>
              </a:spcAft>
              <a:buNone/>
              <a:defRPr sz="17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12/20</a:t>
            </a:r>
          </a:p>
          <a:p>
            <a:pPr>
              <a:buNone/>
              <a:defRPr sz="11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FL Round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70CCC9C-4FAE-4722-97EF-582B650C2C91}"/>
              </a:ext>
            </a:extLst>
          </p:cNvPr>
          <p:cNvSpPr>
            <a:spLocks noGrp="1"/>
          </p:cNvSpPr>
          <p:nvPr/>
        </p:nvSpPr>
        <p:spPr>
          <a:xfrm>
            <a:off x="6949440" y="3246120"/>
            <a:ext cx="1920240" cy="914400"/>
          </a:xfrm>
          <a:prstGeom prst="roundRect">
            <a:avLst>
              <a:gd name="adj" fmla="val 4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73152" anchor="ctr"/>
          <a:lstStyle/>
          <a:p>
            <a:pPr algn="ctr">
              <a:spcAft>
                <a:spcPts val="200"/>
              </a:spcAft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Agent任务</a:t>
            </a:r>
          </a:p>
          <a:p>
            <a:pPr>
              <a:spcAft>
                <a:spcPts val="200"/>
              </a:spcAft>
              <a:buNone/>
              <a:defRPr sz="17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t>3/5</a:t>
            </a:r>
          </a:p>
          <a:p>
            <a:pPr>
              <a:buNone/>
              <a:defRPr sz="11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Agent Tasks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250D26F-B47D-4D22-9063-97A861E13214}"/>
              </a:ext>
            </a:extLst>
          </p:cNvPr>
          <p:cNvSpPr>
            <a:spLocks noGrp="1"/>
          </p:cNvSpPr>
          <p:nvPr/>
        </p:nvSpPr>
        <p:spPr>
          <a:xfrm>
            <a:off x="9006840" y="3246120"/>
            <a:ext cx="1920240" cy="914400"/>
          </a:xfrm>
          <a:prstGeom prst="roundRect">
            <a:avLst>
              <a:gd name="adj" fmla="val 4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73152" anchor="ctr"/>
          <a:lstStyle/>
          <a:p>
            <a:pPr algn="ctr">
              <a:spcAft>
                <a:spcPts val="200"/>
              </a:spcAft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证据条目</a:t>
            </a:r>
          </a:p>
          <a:p>
            <a:pPr>
              <a:spcAft>
                <a:spcPts val="200"/>
              </a:spcAft>
              <a:buNone/>
              <a:defRPr sz="17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47</a:t>
            </a:r>
          </a:p>
          <a:p>
            <a:pPr>
              <a:buNone/>
              <a:defRPr sz="11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Evidence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B1F7F5F-A8A5-4F05-9478-E818C932ED5F}"/>
              </a:ext>
            </a:extLst>
          </p:cNvPr>
          <p:cNvSpPr>
            <a:spLocks noGrp="1"/>
          </p:cNvSpPr>
          <p:nvPr/>
        </p:nvSpPr>
        <p:spPr>
          <a:xfrm>
            <a:off x="6949440" y="4251960"/>
            <a:ext cx="4114800" cy="59436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anchor="ctr"/>
          <a:lstStyle/>
          <a:p>
            <a:pPr algn="ctr"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实验报告 Experiment Report: 3 sites · 1,240 samples · Acc 87.3%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C7FB34-186B-4D4E-86A4-9DE1D9BB2EDD}"/>
              </a:ext>
            </a:extLst>
          </p:cNvPr>
          <p:cNvSpPr>
            <a:spLocks noGrp="1"/>
          </p:cNvSpPr>
          <p:nvPr/>
        </p:nvSpPr>
        <p:spPr>
          <a:xfrm>
            <a:off x="6949440" y="4937760"/>
            <a:ext cx="4114800" cy="274320"/>
          </a:xfrm>
          <a:prstGeom prst="rect">
            <a:avLst/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15373D-1041-4AD4-801C-0A7D9F934DCB}"/>
              </a:ext>
            </a:extLst>
          </p:cNvPr>
          <p:cNvSpPr>
            <a:spLocks noGrp="1"/>
          </p:cNvSpPr>
          <p:nvPr/>
        </p:nvSpPr>
        <p:spPr>
          <a:xfrm>
            <a:off x="7086600" y="4956048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00" b="1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review_demo.sh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1F950B-31F4-4013-8B02-40469404A3A1}"/>
              </a:ext>
            </a:extLst>
          </p:cNvPr>
          <p:cNvSpPr>
            <a:spLocks noGrp="1"/>
          </p:cNvSpPr>
          <p:nvPr/>
        </p:nvSpPr>
        <p:spPr>
          <a:xfrm>
            <a:off x="6949440" y="5212080"/>
            <a:ext cx="4114800" cy="868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anchor="ctr"/>
          <a:lstStyle/>
          <a:p>
            <a:pPr algn="ctr">
              <a:spcAft>
                <a:spcPts val="200"/>
              </a:spcAft>
              <a:buNone/>
              <a:defRPr sz="1200">
                <a:solidFill>
                  <a:srgbClr val="E0E0E0"/>
                </a:solidFill>
                <a:latin typeface="Courier New"/>
                <a:ea typeface="Courier New"/>
                <a:cs typeface="Courier New"/>
              </a:defRPr>
            </a:pPr>
            <a:r>
              <a:t>驾驶舱将“服务在线”“已采集”“已核验”分开显示。</a:t>
            </a:r>
          </a:p>
          <a:p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  <a:endParaRPr/>
          </a:p>
          <a:p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  <a:r>
              <a:t>本地回执仅含模型、延迟、GPU、用量与输出哈希；不保存提示词、回答、影像或患者字段。</a:t>
            </a:r>
          </a:p>
          <a:p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  <a:endParaRPr/>
          </a:p>
          <a:p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  <a:r>
              <a:t>无真实 Spark 回执，即显示 NOT CLAIMED。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AA115F-C411-460C-BBFF-FB933686885C}"/>
              </a:ext>
            </a:extLst>
          </p:cNvPr>
          <p:cNvSpPr>
            <a:spLocks noGrp="1"/>
          </p:cNvSpPr>
          <p:nvPr/>
        </p:nvSpPr>
        <p:spPr>
          <a:xfrm>
            <a:off x="731520" y="6144768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边界声明 Boundary: 逻辑站点 · Logical Sites — architecture design phase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A69D05-E1DA-4DFC-B51C-D582DEF39FB3}"/>
              </a:ext>
            </a:extLst>
          </p:cNvPr>
          <p:cNvSpPr>
            <a:spLocks noGrp="1"/>
          </p:cNvSpPr>
          <p:nvPr/>
        </p:nvSpPr>
        <p:spPr>
          <a:xfrm>
            <a:off x="73152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07 / 20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577D9C-82AC-4CBA-979A-5C46E32F3FA6}"/>
              </a:ext>
            </a:extLst>
          </p:cNvPr>
          <p:cNvSpPr>
            <a:spLocks noGrp="1"/>
          </p:cNvSpPr>
          <p:nvPr/>
        </p:nvSpPr>
        <p:spPr>
          <a:xfrm>
            <a:off x="6400800" y="6446520"/>
            <a:ext cx="5239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77384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E03787-E089-4C50-8FAB-E52648EE81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C371274-4B3F-4ED4-8B68-63830F4FD613}"/>
              </a:ext>
            </a:extLst>
          </p:cNvPr>
          <p:cNvSpPr>
            <a:spLocks noGrp="1"/>
          </p:cNvSpPr>
          <p:nvPr/>
        </p:nvSpPr>
        <p:spPr>
          <a:xfrm>
            <a:off x="7315200" y="-2743200"/>
            <a:ext cx="7315200" cy="7315200"/>
          </a:xfrm>
          <a:prstGeom prst="ellipse">
            <a:avLst/>
          </a:prstGeom>
          <a:solidFill>
            <a:srgbClr val="0D1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E05303-48B3-42B2-87F7-63762B7A22B9}"/>
              </a:ext>
            </a:extLst>
          </p:cNvPr>
          <p:cNvSpPr>
            <a:spLocks noGrp="1"/>
          </p:cNvSpPr>
          <p:nvPr/>
        </p:nvSpPr>
        <p:spPr>
          <a:xfrm>
            <a:off x="73152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PRIVACY &amp; SECURITY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80DDC8-7481-4067-882F-07DFC9E78CC6}"/>
              </a:ext>
            </a:extLst>
          </p:cNvPr>
          <p:cNvSpPr>
            <a:spLocks noGrp="1"/>
          </p:cNvSpPr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多层隐私保护体系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0B0C4E-ECD4-47E0-B9E2-744F515D94DA}"/>
              </a:ext>
            </a:extLst>
          </p:cNvPr>
          <p:cNvSpPr>
            <a:spLocks noGrp="1"/>
          </p:cNvSpPr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Multi-Layer Privacy Protection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F95D07-C660-4915-85A4-3E181D56DD80}"/>
              </a:ext>
            </a:extLst>
          </p:cNvPr>
          <p:cNvSpPr>
            <a:spLocks noGrp="1"/>
          </p:cNvSpPr>
          <p:nvPr/>
        </p:nvSpPr>
        <p:spPr>
          <a:xfrm>
            <a:off x="731520" y="141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从数学保证到工程实现的全面防护  |  From math guarantees to engineering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11FD9B6-C779-4746-80FB-CB72F2C8FA2C}"/>
              </a:ext>
            </a:extLst>
          </p:cNvPr>
          <p:cNvSpPr>
            <a:spLocks noGrp="1"/>
          </p:cNvSpPr>
          <p:nvPr/>
        </p:nvSpPr>
        <p:spPr>
          <a:xfrm>
            <a:off x="731520" y="1920240"/>
            <a:ext cx="5184648" cy="169164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anchor="ctr"/>
          <a:lstStyle/>
          <a:p>
            <a:pPr algn="ctr">
              <a:spcAft>
                <a:spcPts val="400"/>
              </a:spcAft>
              <a:buNone/>
              <a:defRPr sz="28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  <a:p>
            <a:pPr>
              <a:spcAft>
                <a:spcPts val="400"/>
              </a:spcAft>
              <a:buNone/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差分隐私 Differential Privacy</a:t>
            </a:r>
          </a:p>
          <a:p>
            <a:pPr>
              <a:spcAft>
                <a:spcPts val="400"/>
              </a:spcAft>
              <a:buNone/>
              <a:defRPr sz="17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ε-DP数学保证，Opacus实现噪声注入</a:t>
            </a:r>
          </a:p>
          <a:p>
            <a:pPr>
              <a:buNone/>
              <a:defRPr sz="1300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Opacus ε=8.0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091245D-2740-4109-98FC-CF13D0F41850}"/>
              </a:ext>
            </a:extLst>
          </p:cNvPr>
          <p:cNvSpPr>
            <a:spLocks noGrp="1"/>
          </p:cNvSpPr>
          <p:nvPr/>
        </p:nvSpPr>
        <p:spPr>
          <a:xfrm>
            <a:off x="6281928" y="1920240"/>
            <a:ext cx="5184648" cy="169164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anchor="ctr"/>
          <a:lstStyle/>
          <a:p>
            <a:pPr algn="ctr">
              <a:spcAft>
                <a:spcPts val="400"/>
              </a:spcAft>
              <a:buNone/>
              <a:defRPr sz="28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  <a:p>
            <a:pPr>
              <a:spcAft>
                <a:spcPts val="400"/>
              </a:spcAft>
              <a:buNone/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安全聚合 Secure Aggregation</a:t>
            </a:r>
          </a:p>
          <a:p>
            <a:pPr>
              <a:spcAft>
                <a:spcPts val="400"/>
              </a:spcAft>
              <a:buNone/>
              <a:defRPr sz="17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加密参数交换，中间结果不可观测</a:t>
            </a:r>
          </a:p>
          <a:p>
            <a:pPr>
              <a:buNone/>
              <a:defRPr sz="1300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FLARE SecAgg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C24DFDD-88B9-42AF-9FAA-D8E760304A1E}"/>
              </a:ext>
            </a:extLst>
          </p:cNvPr>
          <p:cNvSpPr>
            <a:spLocks noGrp="1"/>
          </p:cNvSpPr>
          <p:nvPr/>
        </p:nvSpPr>
        <p:spPr>
          <a:xfrm>
            <a:off x="731520" y="3840480"/>
            <a:ext cx="5184648" cy="169164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anchor="ctr"/>
          <a:lstStyle/>
          <a:p>
            <a:pPr algn="ctr">
              <a:spcAft>
                <a:spcPts val="400"/>
              </a:spcAft>
              <a:buNone/>
              <a:defRPr sz="28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  <a:p>
            <a:pPr>
              <a:spcAft>
                <a:spcPts val="400"/>
              </a:spcAft>
              <a:buNone/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本地化部署 On-Premise</a:t>
            </a:r>
          </a:p>
          <a:p>
            <a:pPr>
              <a:spcAft>
                <a:spcPts val="400"/>
              </a:spcAft>
              <a:buNone/>
              <a:defRPr sz="17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全栈运行于院内，零数据外传</a:t>
            </a:r>
          </a:p>
          <a:p>
            <a:pPr>
              <a:buNone/>
              <a:defRPr sz="1300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DGX Spark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B451E83-6B5D-4318-86EF-7D37EAB23193}"/>
              </a:ext>
            </a:extLst>
          </p:cNvPr>
          <p:cNvSpPr>
            <a:spLocks noGrp="1"/>
          </p:cNvSpPr>
          <p:nvPr/>
        </p:nvSpPr>
        <p:spPr>
          <a:xfrm>
            <a:off x="6281928" y="3840480"/>
            <a:ext cx="5184648" cy="169164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anchor="ctr"/>
          <a:lstStyle/>
          <a:p>
            <a:pPr algn="ctr">
              <a:spcAft>
                <a:spcPts val="400"/>
              </a:spcAft>
              <a:buNone/>
              <a:defRPr sz="28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  <a:p>
            <a:pPr>
              <a:spcAft>
                <a:spcPts val="400"/>
              </a:spcAft>
              <a:buNone/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访问控制 Access Control</a:t>
            </a:r>
          </a:p>
          <a:p>
            <a:pPr>
              <a:spcAft>
                <a:spcPts val="400"/>
              </a:spcAft>
              <a:buNone/>
              <a:defRPr sz="17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基于角色权限，全链路审计</a:t>
            </a:r>
          </a:p>
          <a:p>
            <a:pPr>
              <a:buNone/>
              <a:defRPr sz="1300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RBAC + Audit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4103E5-AEA8-4222-8796-AC8B0C34BA78}"/>
              </a:ext>
            </a:extLst>
          </p:cNvPr>
          <p:cNvSpPr>
            <a:spLocks noGrp="1"/>
          </p:cNvSpPr>
          <p:nvPr/>
        </p:nvSpPr>
        <p:spPr>
          <a:xfrm>
            <a:off x="73152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08 / 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57D1DA-8C39-4A9B-BDCC-31D7AB410CD8}"/>
              </a:ext>
            </a:extLst>
          </p:cNvPr>
          <p:cNvSpPr>
            <a:spLocks noGrp="1"/>
          </p:cNvSpPr>
          <p:nvPr/>
        </p:nvSpPr>
        <p:spPr>
          <a:xfrm>
            <a:off x="6400800" y="6446520"/>
            <a:ext cx="5239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962987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CE6AB3-D719-45EF-AE44-1AA93FB5E3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88168E6-E787-4C2A-BB0D-B599C475DDDE}"/>
              </a:ext>
            </a:extLst>
          </p:cNvPr>
          <p:cNvSpPr>
            <a:spLocks noGrp="1"/>
          </p:cNvSpPr>
          <p:nvPr/>
        </p:nvSpPr>
        <p:spPr>
          <a:xfrm>
            <a:off x="7315200" y="-2743200"/>
            <a:ext cx="7315200" cy="7315200"/>
          </a:xfrm>
          <a:prstGeom prst="ellipse">
            <a:avLst/>
          </a:prstGeom>
          <a:solidFill>
            <a:srgbClr val="0D1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E7517A-6CE0-44B5-8505-EB2E91E35ED9}"/>
              </a:ext>
            </a:extLst>
          </p:cNvPr>
          <p:cNvSpPr>
            <a:spLocks noGrp="1"/>
          </p:cNvSpPr>
          <p:nvPr/>
        </p:nvSpPr>
        <p:spPr>
          <a:xfrm>
            <a:off x="73152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DATA SOURCES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1493B1-B732-41D8-8815-087F82E220CE}"/>
              </a:ext>
            </a:extLst>
          </p:cNvPr>
          <p:cNvSpPr>
            <a:spLocks noGrp="1"/>
          </p:cNvSpPr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多模态数据治理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4324E3-A606-4CFF-AE80-664D6C1A20EC}"/>
              </a:ext>
            </a:extLst>
          </p:cNvPr>
          <p:cNvSpPr>
            <a:spLocks noGrp="1"/>
          </p:cNvSpPr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Multi-Modal Data Governance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16A187-1BCC-4A66-9F67-1513C879E14C}"/>
              </a:ext>
            </a:extLst>
          </p:cNvPr>
          <p:cNvSpPr>
            <a:spLocks noGrp="1"/>
          </p:cNvSpPr>
          <p:nvPr/>
        </p:nvSpPr>
        <p:spPr>
          <a:xfrm>
            <a:off x="731520" y="141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覆盖罕见病研究全数据链路  |  Covering the full research data pipeline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86B69B6-6BB8-40CC-896E-C7D18EAEE12D}"/>
              </a:ext>
            </a:extLst>
          </p:cNvPr>
          <p:cNvSpPr>
            <a:spLocks noGrp="1"/>
          </p:cNvSpPr>
          <p:nvPr/>
        </p:nvSpPr>
        <p:spPr>
          <a:xfrm>
            <a:off x="731520" y="2011680"/>
            <a:ext cx="1956816" cy="320040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20040" rIns="137160" anchor="ctr"/>
          <a:lstStyle/>
          <a:p>
            <a:pPr algn="ctr">
              <a:spcAft>
                <a:spcPts val="1000"/>
              </a:spcAft>
              <a:buNone/>
              <a:defRPr sz="28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  <a:p>
            <a:pPr>
              <a:spcAft>
                <a:spcPts val="8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电子病历 EHR</a:t>
            </a:r>
          </a:p>
          <a:p>
            <a:pPr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诊断、用药、随访记录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1549FBF-5710-4163-84DA-A519C9410509}"/>
              </a:ext>
            </a:extLst>
          </p:cNvPr>
          <p:cNvSpPr>
            <a:spLocks noGrp="1"/>
          </p:cNvSpPr>
          <p:nvPr/>
        </p:nvSpPr>
        <p:spPr>
          <a:xfrm>
            <a:off x="2916936" y="2011680"/>
            <a:ext cx="1956816" cy="320040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20040" rIns="137160" anchor="ctr"/>
          <a:lstStyle/>
          <a:p>
            <a:pPr algn="ctr">
              <a:spcAft>
                <a:spcPts val="1000"/>
              </a:spcAft>
              <a:buNone/>
              <a:defRPr sz="28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  <a:p>
            <a:pPr>
              <a:spcAft>
                <a:spcPts val="8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基因组 Genomic</a:t>
            </a:r>
          </a:p>
          <a:p>
            <a:pPr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全外显子测序、Panel检测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557AA23-D926-47F4-8C31-EC7C5AD10534}"/>
              </a:ext>
            </a:extLst>
          </p:cNvPr>
          <p:cNvSpPr>
            <a:spLocks noGrp="1"/>
          </p:cNvSpPr>
          <p:nvPr/>
        </p:nvSpPr>
        <p:spPr>
          <a:xfrm>
            <a:off x="5102352" y="2011680"/>
            <a:ext cx="1956816" cy="320040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20040" rIns="137160" anchor="ctr"/>
          <a:lstStyle/>
          <a:p>
            <a:pPr algn="ctr">
              <a:spcAft>
                <a:spcPts val="1000"/>
              </a:spcAft>
              <a:buNone/>
              <a:defRPr sz="28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  <a:p>
            <a:pPr>
              <a:spcAft>
                <a:spcPts val="8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医学影像 Imaging</a:t>
            </a:r>
          </a:p>
          <a:p>
            <a:pPr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CT/MRI结构化标注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AE47148-72AE-44CB-8F5F-7EA5F723BF09}"/>
              </a:ext>
            </a:extLst>
          </p:cNvPr>
          <p:cNvSpPr>
            <a:spLocks noGrp="1"/>
          </p:cNvSpPr>
          <p:nvPr/>
        </p:nvSpPr>
        <p:spPr>
          <a:xfrm>
            <a:off x="7287768" y="2011680"/>
            <a:ext cx="1956816" cy="320040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20040" rIns="137160" anchor="ctr"/>
          <a:lstStyle/>
          <a:p>
            <a:pPr algn="ctr">
              <a:spcAft>
                <a:spcPts val="1000"/>
              </a:spcAft>
              <a:buNone/>
              <a:defRPr sz="28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  <a:p>
            <a:pPr>
              <a:spcAft>
                <a:spcPts val="8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检验指标 Lab Results</a:t>
            </a:r>
          </a:p>
          <a:p>
            <a:pPr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实验室检测与生物标志物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0F457E9-64B1-4EEE-B3D9-101291DEB8FB}"/>
              </a:ext>
            </a:extLst>
          </p:cNvPr>
          <p:cNvSpPr>
            <a:spLocks noGrp="1"/>
          </p:cNvSpPr>
          <p:nvPr/>
        </p:nvSpPr>
        <p:spPr>
          <a:xfrm>
            <a:off x="9473184" y="2011680"/>
            <a:ext cx="1956816" cy="320040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20040" rIns="137160" anchor="ctr"/>
          <a:lstStyle/>
          <a:p>
            <a:pPr algn="ctr">
              <a:spcAft>
                <a:spcPts val="1000"/>
              </a:spcAft>
              <a:buNone/>
              <a:defRPr sz="28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  <a:p>
            <a:pPr>
              <a:spcAft>
                <a:spcPts val="8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患者报告 Patient PRO</a:t>
            </a:r>
          </a:p>
          <a:p>
            <a:pPr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PRO量表与生活质量评估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293505-E891-4E2D-9243-770F63E2ABC7}"/>
              </a:ext>
            </a:extLst>
          </p:cNvPr>
          <p:cNvSpPr>
            <a:spLocks noGrp="1"/>
          </p:cNvSpPr>
          <p:nvPr/>
        </p:nvSpPr>
        <p:spPr>
          <a:xfrm>
            <a:off x="731520" y="6144768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边界声明 Boundary: 所有数据经知情同意与治理 · All data consented and governed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49BA6B-4705-4A64-BEF7-06CE8B3A0BFC}"/>
              </a:ext>
            </a:extLst>
          </p:cNvPr>
          <p:cNvSpPr>
            <a:spLocks noGrp="1"/>
          </p:cNvSpPr>
          <p:nvPr/>
        </p:nvSpPr>
        <p:spPr>
          <a:xfrm>
            <a:off x="73152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09 / 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860050-63A4-420B-87F3-6CE550FFE12A}"/>
              </a:ext>
            </a:extLst>
          </p:cNvPr>
          <p:cNvSpPr>
            <a:spLocks noGrp="1"/>
          </p:cNvSpPr>
          <p:nvPr/>
        </p:nvSpPr>
        <p:spPr>
          <a:xfrm>
            <a:off x="6400800" y="6446520"/>
            <a:ext cx="5239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1850281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184292-03E9-4A55-8955-A6CEEC9C2C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E6EEE05-E370-48BB-82FC-83FCCA0B2202}"/>
              </a:ext>
            </a:extLst>
          </p:cNvPr>
          <p:cNvSpPr>
            <a:spLocks noGrp="1"/>
          </p:cNvSpPr>
          <p:nvPr/>
        </p:nvSpPr>
        <p:spPr>
          <a:xfrm>
            <a:off x="7315200" y="-2743200"/>
            <a:ext cx="7315200" cy="7315200"/>
          </a:xfrm>
          <a:prstGeom prst="ellipse">
            <a:avLst/>
          </a:prstGeom>
          <a:solidFill>
            <a:srgbClr val="0D1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98837D-9FC1-472F-94BD-474856ED1F60}"/>
              </a:ext>
            </a:extLst>
          </p:cNvPr>
          <p:cNvSpPr>
            <a:spLocks noGrp="1"/>
          </p:cNvSpPr>
          <p:nvPr/>
        </p:nvSpPr>
        <p:spPr>
          <a:xfrm>
            <a:off x="73152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ROADMAP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BE553D-A9AE-497F-9AC1-5DFAAC27F35D}"/>
              </a:ext>
            </a:extLst>
          </p:cNvPr>
          <p:cNvSpPr>
            <a:spLocks noGrp="1"/>
          </p:cNvSpPr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五阶段产品化路线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4F601-907A-4614-9661-66F2F9E8E232}"/>
              </a:ext>
            </a:extLst>
          </p:cNvPr>
          <p:cNvSpPr>
            <a:spLocks noGrp="1"/>
          </p:cNvSpPr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Five-Phase Product Roadmap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7C27E2-7870-48FD-A056-DAD2AD648F26}"/>
              </a:ext>
            </a:extLst>
          </p:cNvPr>
          <p:cNvSpPr>
            <a:spLocks noGrp="1"/>
          </p:cNvSpPr>
          <p:nvPr/>
        </p:nvSpPr>
        <p:spPr>
          <a:xfrm>
            <a:off x="731520" y="141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从原型到全国推广的递进路径  |  From prototype to nationwide rollout</a:t>
            </a:r>
          </a:p>
        </p:txBody>
      </p:sp>
      <p:sp>
        <p:nvSpPr>
          <p:cNvPr id="8" name="Connector 7">
            <a:extLst>
              <a:ext uri="{FF2B5EF4-FFF2-40B4-BE49-F238E27FC236}">
                <a16:creationId xmlns:a16="http://schemas.microsoft.com/office/drawing/2014/main" id="{F74BFA26-EDAB-4657-87B8-77DF77496058}"/>
              </a:ext>
            </a:extLst>
          </p:cNvPr>
          <p:cNvSpPr>
            <a:spLocks noGrp="1"/>
          </p:cNvSpPr>
          <p:nvPr/>
        </p:nvSpPr>
        <p:spPr>
          <a:xfrm>
            <a:off x="0" y="2743200"/>
            <a:ext cx="0" cy="0"/>
          </a:xfrm>
          <a:prstGeom prst="line">
            <a:avLst/>
          </a:prstGeom>
          <a:ln w="25400">
            <a:solidFill>
              <a:srgbClr val="4A7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C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1CABA29-5608-49BE-B348-4A40FA85493E}"/>
              </a:ext>
            </a:extLst>
          </p:cNvPr>
          <p:cNvSpPr>
            <a:spLocks noGrp="1"/>
          </p:cNvSpPr>
          <p:nvPr/>
        </p:nvSpPr>
        <p:spPr>
          <a:xfrm>
            <a:off x="1618488" y="2354046"/>
            <a:ext cx="182880" cy="182880"/>
          </a:xfrm>
          <a:prstGeom prst="ellipse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9D08F2C-852C-4BC7-8BB0-508FC8E151E5}"/>
              </a:ext>
            </a:extLst>
          </p:cNvPr>
          <p:cNvSpPr>
            <a:spLocks noGrp="1"/>
          </p:cNvSpPr>
          <p:nvPr/>
        </p:nvSpPr>
        <p:spPr>
          <a:xfrm>
            <a:off x="731520" y="2719806"/>
            <a:ext cx="1956816" cy="2560320"/>
          </a:xfrm>
          <a:prstGeom prst="roundRect">
            <a:avLst>
              <a:gd name="adj" fmla="val 4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Ins="137160" anchor="ctr"/>
          <a:lstStyle/>
          <a:p>
            <a:pPr algn="ctr">
              <a:spcAft>
                <a:spcPts val="400"/>
              </a:spcAft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July 2026 </a:t>
            </a:r>
          </a:p>
          <a:p>
            <a:pPr>
              <a:spcAft>
                <a:spcPts val="600"/>
              </a:spcAft>
              <a:buNone/>
              <a:defRPr sz="1700" b="1">
                <a:solidFill>
                  <a:srgbClr val="FFFFFF"/>
                </a:solidFill>
              </a:defRPr>
            </a:pPr>
            <a:r>
              <a:t>黑客松原型</a:t>
            </a:r>
            <a:br/>
            <a:r>
              <a:t>Hackathon</a:t>
            </a:r>
          </a:p>
          <a:p>
            <a:pPr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核心架构验证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F964DD0-7003-4FA6-8D2E-BB9BF023BCD8}"/>
              </a:ext>
            </a:extLst>
          </p:cNvPr>
          <p:cNvSpPr>
            <a:spLocks noGrp="1"/>
          </p:cNvSpPr>
          <p:nvPr/>
        </p:nvSpPr>
        <p:spPr>
          <a:xfrm>
            <a:off x="3803904" y="2354046"/>
            <a:ext cx="182880" cy="182880"/>
          </a:xfrm>
          <a:prstGeom prst="ellipse">
            <a:avLst/>
          </a:prstGeom>
          <a:solidFill>
            <a:srgbClr val="6B6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9DCC12F-6633-4FF6-860B-62DF22D73104}"/>
              </a:ext>
            </a:extLst>
          </p:cNvPr>
          <p:cNvSpPr>
            <a:spLocks noGrp="1"/>
          </p:cNvSpPr>
          <p:nvPr/>
        </p:nvSpPr>
        <p:spPr>
          <a:xfrm>
            <a:off x="2916936" y="2719806"/>
            <a:ext cx="1956816" cy="256032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Ins="137160" anchor="ctr"/>
          <a:lstStyle/>
          <a:p>
            <a:pPr algn="ctr">
              <a:spcAft>
                <a:spcPts val="400"/>
              </a:spcAft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July 2026 </a:t>
            </a:r>
          </a:p>
          <a:p>
            <a:pPr>
              <a:spcAft>
                <a:spcPts val="600"/>
              </a:spcAft>
              <a:buNone/>
              <a:defRPr sz="1700" b="1">
                <a:solidFill>
                  <a:srgbClr val="FFFFFF"/>
                </a:solidFill>
              </a:defRPr>
            </a:pPr>
            <a:r>
              <a:t>开源发布</a:t>
            </a:r>
            <a:br/>
            <a:r>
              <a:t>Open Source</a:t>
            </a:r>
          </a:p>
          <a:p>
            <a:pPr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GitHub上线 + 试点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354DFDC-8DEA-4A5C-8428-D8FEC25F9E27}"/>
              </a:ext>
            </a:extLst>
          </p:cNvPr>
          <p:cNvSpPr>
            <a:spLocks noGrp="1"/>
          </p:cNvSpPr>
          <p:nvPr/>
        </p:nvSpPr>
        <p:spPr>
          <a:xfrm>
            <a:off x="5989320" y="2354046"/>
            <a:ext cx="182880" cy="182880"/>
          </a:xfrm>
          <a:prstGeom prst="ellipse">
            <a:avLst/>
          </a:prstGeom>
          <a:solidFill>
            <a:srgbClr val="6B6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99B0152-0915-4A71-A424-74BEE9126B2D}"/>
              </a:ext>
            </a:extLst>
          </p:cNvPr>
          <p:cNvSpPr>
            <a:spLocks noGrp="1"/>
          </p:cNvSpPr>
          <p:nvPr/>
        </p:nvSpPr>
        <p:spPr>
          <a:xfrm>
            <a:off x="5102352" y="2719806"/>
            <a:ext cx="1956816" cy="256032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Ins="137160" anchor="ctr"/>
          <a:lstStyle/>
          <a:p>
            <a:pPr algn="ctr">
              <a:spcAft>
                <a:spcPts val="400"/>
              </a:spcAft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2026 下半年</a:t>
            </a:r>
          </a:p>
          <a:p>
            <a:pPr>
              <a:spcAft>
                <a:spcPts val="600"/>
              </a:spcAft>
              <a:buNone/>
              <a:defRPr sz="1700" b="1">
                <a:solidFill>
                  <a:srgbClr val="FFFFFF"/>
                </a:solidFill>
              </a:defRPr>
            </a:pPr>
            <a:r>
              <a:t>联邦联盟</a:t>
            </a:r>
            <a:br/>
            <a:r>
              <a:t>Consortium</a:t>
            </a:r>
          </a:p>
          <a:p>
            <a:pPr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Agent v2 + 联盟组建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EA389CB-3CD8-45C5-A966-5DF3856C9D6F}"/>
              </a:ext>
            </a:extLst>
          </p:cNvPr>
          <p:cNvSpPr>
            <a:spLocks noGrp="1"/>
          </p:cNvSpPr>
          <p:nvPr/>
        </p:nvSpPr>
        <p:spPr>
          <a:xfrm>
            <a:off x="8174736" y="2354046"/>
            <a:ext cx="182880" cy="182880"/>
          </a:xfrm>
          <a:prstGeom prst="ellipse">
            <a:avLst/>
          </a:prstGeom>
          <a:solidFill>
            <a:srgbClr val="6B6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418DB24-6320-4CF3-B796-E698D07EBC73}"/>
              </a:ext>
            </a:extLst>
          </p:cNvPr>
          <p:cNvSpPr>
            <a:spLocks noGrp="1"/>
          </p:cNvSpPr>
          <p:nvPr/>
        </p:nvSpPr>
        <p:spPr>
          <a:xfrm>
            <a:off x="7287768" y="2719806"/>
            <a:ext cx="1956816" cy="256032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Ins="137160" anchor="ctr"/>
          <a:lstStyle/>
          <a:p>
            <a:pPr algn="ctr">
              <a:spcAft>
                <a:spcPts val="400"/>
              </a:spcAft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2026年底</a:t>
            </a:r>
          </a:p>
          <a:p>
            <a:pPr>
              <a:spcAft>
                <a:spcPts val="600"/>
              </a:spcAft>
              <a:buNone/>
              <a:defRPr sz="1700" b="1">
                <a:solidFill>
                  <a:srgbClr val="FFFFFF"/>
                </a:solidFill>
              </a:defRPr>
            </a:pPr>
            <a:r>
              <a:t>企业MVP</a:t>
            </a:r>
            <a:br/>
            <a:r>
              <a:t>Enterprise</a:t>
            </a:r>
          </a:p>
          <a:p>
            <a:pPr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企业版 + 首个合同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70B846-41A9-4316-91FB-064863058E9F}"/>
              </a:ext>
            </a:extLst>
          </p:cNvPr>
          <p:cNvSpPr>
            <a:spLocks noGrp="1"/>
          </p:cNvSpPr>
          <p:nvPr/>
        </p:nvSpPr>
        <p:spPr>
          <a:xfrm>
            <a:off x="10360152" y="2354046"/>
            <a:ext cx="182880" cy="182880"/>
          </a:xfrm>
          <a:prstGeom prst="ellipse">
            <a:avLst/>
          </a:prstGeom>
          <a:solidFill>
            <a:srgbClr val="6B6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505D27E-A749-413B-AE7A-43D1828BD14D}"/>
              </a:ext>
            </a:extLst>
          </p:cNvPr>
          <p:cNvSpPr>
            <a:spLocks noGrp="1"/>
          </p:cNvSpPr>
          <p:nvPr/>
        </p:nvSpPr>
        <p:spPr>
          <a:xfrm>
            <a:off x="9473184" y="2719806"/>
            <a:ext cx="1956816" cy="256032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Ins="137160" anchor="ctr"/>
          <a:lstStyle/>
          <a:p>
            <a:pPr algn="ctr">
              <a:spcAft>
                <a:spcPts val="400"/>
              </a:spcAft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2027年</a:t>
            </a:r>
          </a:p>
          <a:p>
            <a:pPr>
              <a:spcAft>
                <a:spcPts val="600"/>
              </a:spcAft>
              <a:buNone/>
              <a:defRPr sz="1700" b="1">
                <a:solidFill>
                  <a:srgbClr val="FFFFFF"/>
                </a:solidFill>
              </a:defRPr>
            </a:pPr>
            <a:r>
              <a:t>全国推广</a:t>
            </a:r>
            <a:br/>
            <a:r>
              <a:t>Scale-up</a:t>
            </a:r>
          </a:p>
          <a:p>
            <a:pPr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规模化部署 + 生态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F9ABF0-EA89-480B-8F26-E7BA946EE90B}"/>
              </a:ext>
            </a:extLst>
          </p:cNvPr>
          <p:cNvSpPr>
            <a:spLocks noGrp="1"/>
          </p:cNvSpPr>
          <p:nvPr/>
        </p:nvSpPr>
        <p:spPr>
          <a:xfrm>
            <a:off x="731520" y="6144768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边界声明 Boundary: 逻辑站点 · Logical Sites — planned milestones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E27DF7-C167-4CA7-9344-C56A8DCD5E56}"/>
              </a:ext>
            </a:extLst>
          </p:cNvPr>
          <p:cNvSpPr>
            <a:spLocks noGrp="1"/>
          </p:cNvSpPr>
          <p:nvPr/>
        </p:nvSpPr>
        <p:spPr>
          <a:xfrm>
            <a:off x="73152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10 / 20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FA64C3-44C9-4D30-9BA5-85A820D91EBA}"/>
              </a:ext>
            </a:extLst>
          </p:cNvPr>
          <p:cNvSpPr>
            <a:spLocks noGrp="1"/>
          </p:cNvSpPr>
          <p:nvPr/>
        </p:nvSpPr>
        <p:spPr>
          <a:xfrm>
            <a:off x="6400800" y="6446520"/>
            <a:ext cx="5239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451970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7CC725-5129-44FE-8561-08F9F077CE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11C750D-5513-4E39-9F0B-1EDD648D224C}"/>
              </a:ext>
            </a:extLst>
          </p:cNvPr>
          <p:cNvSpPr>
            <a:spLocks noGrp="1"/>
          </p:cNvSpPr>
          <p:nvPr/>
        </p:nvSpPr>
        <p:spPr>
          <a:xfrm>
            <a:off x="7315200" y="-2743200"/>
            <a:ext cx="7315200" cy="7315200"/>
          </a:xfrm>
          <a:prstGeom prst="ellipse">
            <a:avLst/>
          </a:prstGeom>
          <a:solidFill>
            <a:srgbClr val="0D1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4006C1-AA62-42F0-9CF4-7FD9002196A4}"/>
              </a:ext>
            </a:extLst>
          </p:cNvPr>
          <p:cNvSpPr>
            <a:spLocks noGrp="1"/>
          </p:cNvSpPr>
          <p:nvPr/>
        </p:nvSpPr>
        <p:spPr>
          <a:xfrm>
            <a:off x="73152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COLLABORATION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2F3FEC-90C6-44E9-AD6D-1D1A62374390}"/>
              </a:ext>
            </a:extLst>
          </p:cNvPr>
          <p:cNvSpPr>
            <a:spLocks noGrp="1"/>
          </p:cNvSpPr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合作请求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25D98E-495E-4035-B3BF-B031D41868BB}"/>
              </a:ext>
            </a:extLst>
          </p:cNvPr>
          <p:cNvSpPr>
            <a:spLocks noGrp="1"/>
          </p:cNvSpPr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Collaboration Request — What We Need, What We Offer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7A70CC-AEE4-4D00-B99E-DDF094D8BC89}"/>
              </a:ext>
            </a:extLst>
          </p:cNvPr>
          <p:cNvSpPr>
            <a:spLocks noGrp="1"/>
          </p:cNvSpPr>
          <p:nvPr/>
        </p:nvSpPr>
        <p:spPr>
          <a:xfrm>
            <a:off x="731520" y="141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寻求战略合作伙伴共建罕见病科研生态  |  Seeking strategic partners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5A039C-6437-429F-90FA-79D8E690A711}"/>
              </a:ext>
            </a:extLst>
          </p:cNvPr>
          <p:cNvSpPr>
            <a:spLocks noGrp="1"/>
          </p:cNvSpPr>
          <p:nvPr/>
        </p:nvSpPr>
        <p:spPr>
          <a:xfrm>
            <a:off x="731520" y="1828800"/>
            <a:ext cx="54864" cy="38404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8DB273B-056E-4B36-8FE5-1E5C5FF3A3B0}"/>
              </a:ext>
            </a:extLst>
          </p:cNvPr>
          <p:cNvSpPr>
            <a:spLocks noGrp="1"/>
          </p:cNvSpPr>
          <p:nvPr/>
        </p:nvSpPr>
        <p:spPr>
          <a:xfrm>
            <a:off x="868680" y="1828800"/>
            <a:ext cx="4892040" cy="384048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anchor="ctr"/>
          <a:lstStyle/>
          <a:p>
            <a:pPr algn="ctr">
              <a:spcAft>
                <a:spcPts val="1200"/>
              </a:spcAft>
              <a:buNone/>
              <a:defRPr sz="22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我们需要 We Need</a:t>
            </a:r>
          </a:p>
          <a:p>
            <a:pPr>
              <a:spcAft>
                <a:spcPts val="2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  医院合作伙伴 Hospital Partners</a:t>
            </a:r>
          </a:p>
          <a:p>
            <a:pPr>
              <a:spcAft>
                <a:spcPts val="800"/>
              </a:spcAft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     提供试点场景与数据治理经验</a:t>
            </a:r>
          </a:p>
          <a:p>
            <a:pPr>
              <a:spcAft>
                <a:spcPts val="2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  NVIDIA技术支持 NVIDIA Support</a:t>
            </a:r>
          </a:p>
          <a:p>
            <a:pPr>
              <a:spcAft>
                <a:spcPts val="800"/>
              </a:spcAft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     FLARE/MONAI深度技术指导</a:t>
            </a:r>
          </a:p>
          <a:p>
            <a:pPr>
              <a:spcAft>
                <a:spcPts val="2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  Inception生态 Ecosystem</a:t>
            </a:r>
          </a:p>
          <a:p>
            <a:pPr>
              <a:spcAft>
                <a:spcPts val="800"/>
              </a:spcAft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     品牌背书与医疗生态对接</a:t>
            </a:r>
          </a:p>
          <a:p>
            <a:pPr>
              <a:spcAft>
                <a:spcPts val="2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  种子轮资金 Seed Funding</a:t>
            </a:r>
          </a:p>
          <a:p>
            <a:pPr>
              <a:spcAft>
                <a:spcPts val="800"/>
              </a:spcAft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     支持全职开发与规模化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FAB4F0-CFB1-49CD-AF3C-FC8F1B316434}"/>
              </a:ext>
            </a:extLst>
          </p:cNvPr>
          <p:cNvSpPr>
            <a:spLocks noGrp="1"/>
          </p:cNvSpPr>
          <p:nvPr/>
        </p:nvSpPr>
        <p:spPr>
          <a:xfrm>
            <a:off x="6126480" y="1828800"/>
            <a:ext cx="54864" cy="38404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141EAB1-D29F-4FB3-BFF6-590486742D7A}"/>
              </a:ext>
            </a:extLst>
          </p:cNvPr>
          <p:cNvSpPr>
            <a:spLocks noGrp="1"/>
          </p:cNvSpPr>
          <p:nvPr/>
        </p:nvSpPr>
        <p:spPr>
          <a:xfrm>
            <a:off x="6263640" y="1828800"/>
            <a:ext cx="4892040" cy="384048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anchor="ctr"/>
          <a:lstStyle/>
          <a:p>
            <a:pPr algn="ctr">
              <a:spcAft>
                <a:spcPts val="1200"/>
              </a:spcAft>
              <a:buNone/>
              <a:defRPr sz="22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我们提供 We Offer</a:t>
            </a:r>
          </a:p>
          <a:p>
            <a:pPr>
              <a:spcAft>
                <a:spcPts val="2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  开源技术栈 Open Source</a:t>
            </a:r>
          </a:p>
          <a:p>
            <a:pPr>
              <a:spcAft>
                <a:spcPts val="800"/>
              </a:spcAft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     MIT协议，完整文档与部署指南</a:t>
            </a:r>
          </a:p>
          <a:p>
            <a:pPr>
              <a:spcAft>
                <a:spcPts val="2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  联合发表 Joint Publications</a:t>
            </a:r>
          </a:p>
          <a:p>
            <a:pPr>
              <a:spcAft>
                <a:spcPts val="800"/>
              </a:spcAft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     多中心研究成果共同署名</a:t>
            </a:r>
          </a:p>
          <a:p>
            <a:pPr>
              <a:spcAft>
                <a:spcPts val="2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  临床工具 Clinical Tools</a:t>
            </a:r>
          </a:p>
          <a:p>
            <a:pPr>
              <a:spcAft>
                <a:spcPts val="800"/>
              </a:spcAft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     可直接部署的科研分析平台</a:t>
            </a:r>
          </a:p>
          <a:p>
            <a:pPr>
              <a:spcAft>
                <a:spcPts val="2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  数据合规 Compliance</a:t>
            </a:r>
          </a:p>
          <a:p>
            <a:pPr>
              <a:spcAft>
                <a:spcPts val="800"/>
              </a:spcAft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     端到端隐私保护与审计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767F74-A0A2-48F5-AE41-14CCDA925A1B}"/>
              </a:ext>
            </a:extLst>
          </p:cNvPr>
          <p:cNvSpPr>
            <a:spLocks noGrp="1"/>
          </p:cNvSpPr>
          <p:nvPr/>
        </p:nvSpPr>
        <p:spPr>
          <a:xfrm>
            <a:off x="73152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11 / 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3E0BDC-E3C5-42B3-9B24-FAD9AF66E311}"/>
              </a:ext>
            </a:extLst>
          </p:cNvPr>
          <p:cNvSpPr>
            <a:spLocks noGrp="1"/>
          </p:cNvSpPr>
          <p:nvPr/>
        </p:nvSpPr>
        <p:spPr>
          <a:xfrm>
            <a:off x="6400800" y="6446520"/>
            <a:ext cx="5239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1776624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579D6F-D375-4E51-A54F-19088C206C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E5D4F66-8FF2-4BDE-BE80-FAA7C2994B6D}"/>
              </a:ext>
            </a:extLst>
          </p:cNvPr>
          <p:cNvSpPr>
            <a:spLocks noGrp="1"/>
          </p:cNvSpPr>
          <p:nvPr/>
        </p:nvSpPr>
        <p:spPr>
          <a:xfrm>
            <a:off x="914400" y="-914400"/>
            <a:ext cx="10058400" cy="8229600"/>
          </a:xfrm>
          <a:prstGeom prst="ellipse">
            <a:avLst/>
          </a:prstGeom>
          <a:solidFill>
            <a:srgbClr val="0D1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818316-868D-4CE5-B489-E2F82D95A514}"/>
              </a:ext>
            </a:extLst>
          </p:cNvPr>
          <p:cNvSpPr>
            <a:spLocks noGrp="1"/>
          </p:cNvSpPr>
          <p:nvPr/>
        </p:nvSpPr>
        <p:spPr>
          <a:xfrm>
            <a:off x="5184648" y="1645920"/>
            <a:ext cx="1828800" cy="254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1750FD-9E4D-4442-B1E0-0A10BFD4D5BB}"/>
              </a:ext>
            </a:extLst>
          </p:cNvPr>
          <p:cNvSpPr>
            <a:spLocks noGrp="1"/>
          </p:cNvSpPr>
          <p:nvPr/>
        </p:nvSpPr>
        <p:spPr>
          <a:xfrm>
            <a:off x="0" y="192024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THANK YOU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C8A09-DC2E-4058-B90F-DACFA6390675}"/>
              </a:ext>
            </a:extLst>
          </p:cNvPr>
          <p:cNvSpPr>
            <a:spLocks noGrp="1"/>
          </p:cNvSpPr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RareLink 稀联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2DE810-87CC-4F14-9D4A-1A644D7DD260}"/>
              </a:ext>
            </a:extLst>
          </p:cNvPr>
          <p:cNvSpPr>
            <a:spLocks noGrp="1"/>
          </p:cNvSpPr>
          <p:nvPr/>
        </p:nvSpPr>
        <p:spPr>
          <a:xfrm>
            <a:off x="1371600" y="338328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让数据不动，知识流动  ·  Data Stays Local, Knowledge Flows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1BF102-0F06-4A50-B028-447DF1052870}"/>
              </a:ext>
            </a:extLst>
          </p:cNvPr>
          <p:cNvSpPr>
            <a:spLocks noGrp="1"/>
          </p:cNvSpPr>
          <p:nvPr/>
        </p:nvSpPr>
        <p:spPr>
          <a:xfrm>
            <a:off x="1371600" y="384048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20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让 Agent 发现医学证据  ·  Agents Discover Medical Evidence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DEBC45-EE33-44B6-B05D-8EF88EA02800}"/>
              </a:ext>
            </a:extLst>
          </p:cNvPr>
          <p:cNvSpPr>
            <a:spLocks noGrp="1"/>
          </p:cNvSpPr>
          <p:nvPr/>
        </p:nvSpPr>
        <p:spPr>
          <a:xfrm>
            <a:off x="4270248" y="4480560"/>
            <a:ext cx="3657600" cy="731520"/>
          </a:xfrm>
          <a:prstGeom prst="rect">
            <a:avLst/>
          </a:prstGeom>
          <a:solidFill>
            <a:srgbClr val="16161A"/>
          </a:solidFill>
          <a:ln w="19050">
            <a:solidFill>
              <a:srgbClr val="6B6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  <a:defRPr sz="14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[ 团队合影 Team Photo 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374E08-D2D8-45F7-AE1B-2C161273CED8}"/>
              </a:ext>
            </a:extLst>
          </p:cNvPr>
          <p:cNvSpPr>
            <a:spLocks noGrp="1"/>
          </p:cNvSpPr>
          <p:nvPr/>
        </p:nvSpPr>
        <p:spPr>
          <a:xfrm>
            <a:off x="0" y="53949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4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Team RareLink  |  contact@rarelink.ai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1EA1A3-D2C2-42D3-BB13-885009DB0D09}"/>
              </a:ext>
            </a:extLst>
          </p:cNvPr>
          <p:cNvSpPr>
            <a:spLocks noGrp="1"/>
          </p:cNvSpPr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7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加入我们，让罕见病研究不再罕见  |  Join us — make rare disease research less rare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9F5A1E-3CED-4B7D-AB13-77594C58625F}"/>
              </a:ext>
            </a:extLst>
          </p:cNvPr>
          <p:cNvSpPr>
            <a:spLocks noGrp="1"/>
          </p:cNvSpPr>
          <p:nvPr/>
        </p:nvSpPr>
        <p:spPr>
          <a:xfrm>
            <a:off x="0" y="6126480"/>
            <a:ext cx="121916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本页部分内容由AI辅助生成  |  Some content AI-assisted per platform guidelines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A110EC-A487-454C-8DDE-4DC3AF6A3898}"/>
              </a:ext>
            </a:extLst>
          </p:cNvPr>
          <p:cNvSpPr>
            <a:spLocks noGrp="1"/>
          </p:cNvSpPr>
          <p:nvPr/>
        </p:nvSpPr>
        <p:spPr>
          <a:xfrm>
            <a:off x="0" y="6400800"/>
            <a:ext cx="121916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NVIDIA Inception  |  DGX Spark Hackathon</a:t>
            </a:r>
          </a:p>
        </p:txBody>
      </p:sp>
    </p:spTree>
    <p:extLst>
      <p:ext uri="{BB962C8B-B14F-4D97-AF65-F5344CB8AC3E}">
        <p14:creationId xmlns:p14="http://schemas.microsoft.com/office/powerpoint/2010/main" val="2057806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DFB85C-2EB1-4F60-B9B6-64F1D1B0B6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9872136-D4E2-4BAA-8A0D-9A63CACDC5D6}"/>
              </a:ext>
            </a:extLst>
          </p:cNvPr>
          <p:cNvSpPr>
            <a:spLocks noGrp="1"/>
          </p:cNvSpPr>
          <p:nvPr/>
        </p:nvSpPr>
        <p:spPr>
          <a:xfrm>
            <a:off x="7315200" y="-2743200"/>
            <a:ext cx="7315200" cy="7315200"/>
          </a:xfrm>
          <a:prstGeom prst="ellipse">
            <a:avLst/>
          </a:prstGeom>
          <a:solidFill>
            <a:srgbClr val="0D1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4C83B-6CEB-4C5E-81D5-FA75CC23E3C0}"/>
              </a:ext>
            </a:extLst>
          </p:cNvPr>
          <p:cNvSpPr>
            <a:spLocks noGrp="1"/>
          </p:cNvSpPr>
          <p:nvPr/>
        </p:nvSpPr>
        <p:spPr>
          <a:xfrm>
            <a:off x="73152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APPENDIX A1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12BEF7-C305-494A-8E59-3709805D1CBF}"/>
              </a:ext>
            </a:extLst>
          </p:cNvPr>
          <p:cNvSpPr>
            <a:spLocks noGrp="1"/>
          </p:cNvSpPr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技术栈详解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35CA6E-FBFF-49C6-9B7F-AB550DCCF4D6}"/>
              </a:ext>
            </a:extLst>
          </p:cNvPr>
          <p:cNvSpPr>
            <a:spLocks noGrp="1"/>
          </p:cNvSpPr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Technology Stack Details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1D4A45-9F7D-4648-B8B3-4A19E968402D}"/>
              </a:ext>
            </a:extLst>
          </p:cNvPr>
          <p:cNvSpPr>
            <a:spLocks noGrp="1"/>
          </p:cNvSpPr>
          <p:nvPr/>
        </p:nvSpPr>
        <p:spPr>
          <a:xfrm>
            <a:off x="731520" y="141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全栈组件清单与NVIDIA集成度  |  Full-stack component inventory</a:t>
            </a:r>
          </a:p>
        </p:txBody>
      </p:sp>
      <p:graphicFrame>
        <p:nvGraphicFramePr>
          <p:cNvPr id="18" name="Table 7"/>
          <p:cNvGraphicFramePr/>
          <p:nvPr/>
        </p:nvGraphicFramePr>
        <p:xfrm>
          <a:off x="1069848" y="1920240"/>
          <a:ext cx="10058400" cy="41400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组件 Component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版本 Version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角色 Role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NVIDIA集成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DGX Spark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GB10 · 128GB UMA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本地训练 / 可选本地推理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CUDA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NVIDIA FLARE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2.7.2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联邦编排与 mTLS 演练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NVIDIA FLARE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MONAI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1.6.0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3D SegResNet 影像训练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PyTorch CUDA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Opacus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DP-SGD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样本级会计 / RDP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PyTorch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TensorRT-LLM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Docker service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私有本地 Agent 端点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NVIDIA TensorRT-LLM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Step 3.7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API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仅脱敏聚合上下文的回退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StepFun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React + FastAPI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TypeScript / Python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证据驾驶舱与审计接口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Spark 容器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D7DB474-2581-4D75-84A7-F8B4864564C6}"/>
              </a:ext>
            </a:extLst>
          </p:cNvPr>
          <p:cNvSpPr>
            <a:spLocks noGrp="1"/>
          </p:cNvSpPr>
          <p:nvPr/>
        </p:nvSpPr>
        <p:spPr>
          <a:xfrm>
            <a:off x="73152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A1 / 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C27C1-03B0-4A3F-93FD-266F59F3ED35}"/>
              </a:ext>
            </a:extLst>
          </p:cNvPr>
          <p:cNvSpPr>
            <a:spLocks noGrp="1"/>
          </p:cNvSpPr>
          <p:nvPr/>
        </p:nvSpPr>
        <p:spPr>
          <a:xfrm>
            <a:off x="6400800" y="6446520"/>
            <a:ext cx="5239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技术附录 Technical Appendix</a:t>
            </a:r>
          </a:p>
        </p:txBody>
      </p:sp>
    </p:spTree>
    <p:extLst>
      <p:ext uri="{BB962C8B-B14F-4D97-AF65-F5344CB8AC3E}">
        <p14:creationId xmlns:p14="http://schemas.microsoft.com/office/powerpoint/2010/main" val="775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68A4F1-1D0E-4922-8A0C-9DE27B7AB4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2A66E1D-000A-4775-9EA2-011550DA0227}"/>
              </a:ext>
            </a:extLst>
          </p:cNvPr>
          <p:cNvSpPr>
            <a:spLocks noGrp="1"/>
          </p:cNvSpPr>
          <p:nvPr/>
        </p:nvSpPr>
        <p:spPr>
          <a:xfrm>
            <a:off x="7315200" y="-2743200"/>
            <a:ext cx="7315200" cy="7315200"/>
          </a:xfrm>
          <a:prstGeom prst="ellipse">
            <a:avLst/>
          </a:prstGeom>
          <a:solidFill>
            <a:srgbClr val="0D1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1270AB-EE26-48E2-8290-E019EFEC5C3A}"/>
              </a:ext>
            </a:extLst>
          </p:cNvPr>
          <p:cNvSpPr>
            <a:spLocks noGrp="1"/>
          </p:cNvSpPr>
          <p:nvPr/>
        </p:nvSpPr>
        <p:spPr>
          <a:xfrm>
            <a:off x="73152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APPENDIX A2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CC7378-3BDC-4858-9D69-6BE3729DC331}"/>
              </a:ext>
            </a:extLst>
          </p:cNvPr>
          <p:cNvSpPr>
            <a:spLocks noGrp="1"/>
          </p:cNvSpPr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联邦学习协议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EC5F1A-0BDD-40E9-9130-4EDB2B04B251}"/>
              </a:ext>
            </a:extLst>
          </p:cNvPr>
          <p:cNvSpPr>
            <a:spLocks noGrp="1"/>
          </p:cNvSpPr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Federated Learning Protocol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4B1BE4-795C-4D93-8319-B8281D2442FC}"/>
              </a:ext>
            </a:extLst>
          </p:cNvPr>
          <p:cNvSpPr>
            <a:spLocks noGrp="1"/>
          </p:cNvSpPr>
          <p:nvPr/>
        </p:nvSpPr>
        <p:spPr>
          <a:xfrm>
            <a:off x="731520" y="141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FLARE训练协议五阶段  |  Five-phase FLARE training protocol</a:t>
            </a:r>
          </a:p>
        </p:txBody>
      </p:sp>
      <p:graphicFrame>
        <p:nvGraphicFramePr>
          <p:cNvPr id="19" name="Table 7"/>
          <p:cNvGraphicFramePr/>
          <p:nvPr/>
        </p:nvGraphicFramePr>
        <p:xfrm>
          <a:off x="1069848" y="1920240"/>
          <a:ext cx="100584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阶段 Phase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描述 Description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参数 Parameters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安全 Security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本地训练</a:t>
                      </a:r>
                      <a:br/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Local Training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各站点本地训练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epochs=5, lr=0.001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数据不出院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梯度裁剪</a:t>
                      </a:r>
                      <a:br/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Grad Clipping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限制梯度范数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max_norm=1.0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防梯度泄露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DP噪声</a:t>
                      </a:r>
                      <a:br/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DP Noise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Opacus添加噪声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ε=8.0, δ=1e-5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差分隐私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安全聚合</a:t>
                      </a:r>
                      <a:br/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SecAgg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加密参数交换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secagg=true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不可观测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全局更新</a:t>
                      </a:r>
                      <a:br/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Global Update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FedAvg聚合更新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aggregator=avg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跨站一致性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E805E78-DAE3-420F-9254-F68843E7CD54}"/>
              </a:ext>
            </a:extLst>
          </p:cNvPr>
          <p:cNvSpPr>
            <a:spLocks noGrp="1"/>
          </p:cNvSpPr>
          <p:nvPr/>
        </p:nvSpPr>
        <p:spPr>
          <a:xfrm>
            <a:off x="731520" y="6144768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边界声明 Boundary: 工程验证 · Engineering Verified — prototype FLARE testing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8F64D8-7031-4E52-8274-3A46BA26AAD7}"/>
              </a:ext>
            </a:extLst>
          </p:cNvPr>
          <p:cNvSpPr>
            <a:spLocks noGrp="1"/>
          </p:cNvSpPr>
          <p:nvPr/>
        </p:nvSpPr>
        <p:spPr>
          <a:xfrm>
            <a:off x="73152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A2 / 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A49BE1-B889-4EA3-909C-ECCFA4AD2E50}"/>
              </a:ext>
            </a:extLst>
          </p:cNvPr>
          <p:cNvSpPr>
            <a:spLocks noGrp="1"/>
          </p:cNvSpPr>
          <p:nvPr/>
        </p:nvSpPr>
        <p:spPr>
          <a:xfrm>
            <a:off x="6400800" y="6446520"/>
            <a:ext cx="5239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技术附录 Technical Appendix</a:t>
            </a:r>
          </a:p>
        </p:txBody>
      </p:sp>
    </p:spTree>
    <p:extLst>
      <p:ext uri="{BB962C8B-B14F-4D97-AF65-F5344CB8AC3E}">
        <p14:creationId xmlns:p14="http://schemas.microsoft.com/office/powerpoint/2010/main" val="436603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8F126D-13A0-4D42-A2B4-53EBD345E2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477879D-8F9D-4DC9-B4AA-74909D67C079}"/>
              </a:ext>
            </a:extLst>
          </p:cNvPr>
          <p:cNvSpPr>
            <a:spLocks noGrp="1"/>
          </p:cNvSpPr>
          <p:nvPr/>
        </p:nvSpPr>
        <p:spPr>
          <a:xfrm>
            <a:off x="7315200" y="-2743200"/>
            <a:ext cx="7315200" cy="7315200"/>
          </a:xfrm>
          <a:prstGeom prst="ellipse">
            <a:avLst/>
          </a:prstGeom>
          <a:solidFill>
            <a:srgbClr val="0D1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D6B008-3D5D-4ADD-A020-57FC781740B2}"/>
              </a:ext>
            </a:extLst>
          </p:cNvPr>
          <p:cNvSpPr>
            <a:spLocks noGrp="1"/>
          </p:cNvSpPr>
          <p:nvPr/>
        </p:nvSpPr>
        <p:spPr>
          <a:xfrm>
            <a:off x="73152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APPENDIX A3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A4BEA-AA8D-4906-8AEE-B58DA6D3359A}"/>
              </a:ext>
            </a:extLst>
          </p:cNvPr>
          <p:cNvSpPr>
            <a:spLocks noGrp="1"/>
          </p:cNvSpPr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MONAI 流水线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C0E173-AC19-4097-B14D-6423B22BD7DD}"/>
              </a:ext>
            </a:extLst>
          </p:cNvPr>
          <p:cNvSpPr>
            <a:spLocks noGrp="1"/>
          </p:cNvSpPr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MONAI Processing Pipeline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70ACF-D39F-46DC-B156-F78F8D09DFFF}"/>
              </a:ext>
            </a:extLst>
          </p:cNvPr>
          <p:cNvSpPr>
            <a:spLocks noGrp="1"/>
          </p:cNvSpPr>
          <p:nvPr/>
        </p:nvSpPr>
        <p:spPr>
          <a:xfrm>
            <a:off x="731520" y="141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四阶段医学影像处理流程  |  Four-stage medical imaging pipeline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C1625F-E564-4737-87A5-974077E60C3B}"/>
              </a:ext>
            </a:extLst>
          </p:cNvPr>
          <p:cNvSpPr>
            <a:spLocks noGrp="1"/>
          </p:cNvSpPr>
          <p:nvPr/>
        </p:nvSpPr>
        <p:spPr>
          <a:xfrm>
            <a:off x="731520" y="2464624"/>
            <a:ext cx="54864" cy="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00D8810-E6F2-4EC1-B18F-3BF707DEE6A5}"/>
              </a:ext>
            </a:extLst>
          </p:cNvPr>
          <p:cNvSpPr>
            <a:spLocks noGrp="1"/>
          </p:cNvSpPr>
          <p:nvPr/>
        </p:nvSpPr>
        <p:spPr>
          <a:xfrm>
            <a:off x="786384" y="2464624"/>
            <a:ext cx="2231136" cy="274320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anchor="ctr"/>
          <a:lstStyle/>
          <a:p>
            <a:pPr algn="ctr">
              <a:spcAft>
                <a:spcPts val="1000"/>
              </a:spcAft>
              <a:buNone/>
              <a:defRPr sz="17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预处理</a:t>
            </a:r>
            <a:br/>
            <a:r>
              <a:t>Preprocessing</a:t>
            </a:r>
          </a:p>
          <a:p>
            <a:pPr>
              <a:spcAft>
                <a:spcPts val="1000"/>
              </a:spcAft>
              <a:buNone/>
              <a:defRPr sz="1700">
                <a:solidFill>
                  <a:srgbClr val="FFFFFF"/>
                </a:solidFill>
              </a:defRPr>
            </a:pPr>
            <a:r>
              <a:t>NormalizeIntensity</a:t>
            </a:r>
            <a:br/>
            <a:r>
              <a:t>Resample</a:t>
            </a:r>
            <a:br/>
            <a:r>
              <a:t>Spacing</a:t>
            </a:r>
          </a:p>
          <a:p>
            <a:pPr>
              <a:buNone/>
              <a:defRPr sz="1300">
                <a:solidFill>
                  <a:srgbClr val="6B6B70"/>
                </a:solidFill>
                <a:latin typeface="Courier New"/>
                <a:ea typeface="Courier New"/>
                <a:cs typeface="Courier New"/>
              </a:defRPr>
            </a:pPr>
            <a:r>
              <a:t>MONAI Transforms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A39257CF-C279-4B80-B47F-BAD57B93131F}"/>
              </a:ext>
            </a:extLst>
          </p:cNvPr>
          <p:cNvSpPr>
            <a:spLocks noGrp="1"/>
          </p:cNvSpPr>
          <p:nvPr/>
        </p:nvSpPr>
        <p:spPr>
          <a:xfrm>
            <a:off x="2971800" y="3699064"/>
            <a:ext cx="274320" cy="274320"/>
          </a:xfrm>
          <a:prstGeom prst="rightArrow">
            <a:avLst/>
          </a:prstGeom>
          <a:solidFill>
            <a:srgbClr val="4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1A9178-6A51-41AF-B5F2-C681D1ED88AC}"/>
              </a:ext>
            </a:extLst>
          </p:cNvPr>
          <p:cNvSpPr>
            <a:spLocks noGrp="1"/>
          </p:cNvSpPr>
          <p:nvPr/>
        </p:nvSpPr>
        <p:spPr>
          <a:xfrm>
            <a:off x="3383280" y="2464624"/>
            <a:ext cx="54864" cy="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9C3D27B-3BAB-4121-BEB2-69BB5FEA671F}"/>
              </a:ext>
            </a:extLst>
          </p:cNvPr>
          <p:cNvSpPr>
            <a:spLocks noGrp="1"/>
          </p:cNvSpPr>
          <p:nvPr/>
        </p:nvSpPr>
        <p:spPr>
          <a:xfrm>
            <a:off x="3438144" y="2464624"/>
            <a:ext cx="2231136" cy="274320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anchor="ctr"/>
          <a:lstStyle/>
          <a:p>
            <a:pPr algn="ctr">
              <a:spcAft>
                <a:spcPts val="1000"/>
              </a:spcAft>
              <a:buNone/>
              <a:defRPr sz="17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数据增强</a:t>
            </a:r>
            <a:br/>
            <a:r>
              <a:t>Augmentation</a:t>
            </a:r>
          </a:p>
          <a:p>
            <a:pPr>
              <a:spcAft>
                <a:spcPts val="1000"/>
              </a:spcAft>
              <a:buNone/>
              <a:defRPr sz="1700">
                <a:solidFill>
                  <a:srgbClr val="FFFFFF"/>
                </a:solidFill>
              </a:defRPr>
            </a:pPr>
            <a:r>
              <a:t>Rand3DElastic</a:t>
            </a:r>
            <a:br/>
            <a:r>
              <a:t>RandShiftIntensity</a:t>
            </a:r>
            <a:br/>
            <a:r>
              <a:t>RandFlip</a:t>
            </a:r>
          </a:p>
          <a:p>
            <a:pPr>
              <a:buNone/>
              <a:defRPr sz="1300">
                <a:solidFill>
                  <a:srgbClr val="6B6B70"/>
                </a:solidFill>
                <a:latin typeface="Courier New"/>
                <a:ea typeface="Courier New"/>
                <a:cs typeface="Courier New"/>
              </a:defRPr>
            </a:pPr>
            <a:r>
              <a:t>3D Augmentation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7E6B9559-56C9-4F6D-B902-A6C7CC47E976}"/>
              </a:ext>
            </a:extLst>
          </p:cNvPr>
          <p:cNvSpPr>
            <a:spLocks noGrp="1"/>
          </p:cNvSpPr>
          <p:nvPr/>
        </p:nvSpPr>
        <p:spPr>
          <a:xfrm>
            <a:off x="5623560" y="3699064"/>
            <a:ext cx="274320" cy="274320"/>
          </a:xfrm>
          <a:prstGeom prst="rightArrow">
            <a:avLst/>
          </a:prstGeom>
          <a:solidFill>
            <a:srgbClr val="4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8F41CD-78A0-4805-AE6D-2D3AD752D498}"/>
              </a:ext>
            </a:extLst>
          </p:cNvPr>
          <p:cNvSpPr>
            <a:spLocks noGrp="1"/>
          </p:cNvSpPr>
          <p:nvPr/>
        </p:nvSpPr>
        <p:spPr>
          <a:xfrm>
            <a:off x="6035040" y="2464624"/>
            <a:ext cx="54864" cy="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876E768-67C7-47DE-B03E-246EB06699D4}"/>
              </a:ext>
            </a:extLst>
          </p:cNvPr>
          <p:cNvSpPr>
            <a:spLocks noGrp="1"/>
          </p:cNvSpPr>
          <p:nvPr/>
        </p:nvSpPr>
        <p:spPr>
          <a:xfrm>
            <a:off x="6089904" y="2464624"/>
            <a:ext cx="2231136" cy="274320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anchor="ctr"/>
          <a:lstStyle/>
          <a:p>
            <a:pPr algn="ctr">
              <a:spcAft>
                <a:spcPts val="1000"/>
              </a:spcAft>
              <a:buNone/>
              <a:defRPr sz="17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模型训练</a:t>
            </a:r>
            <a:br/>
            <a:r>
              <a:t>Model Training</a:t>
            </a:r>
          </a:p>
          <a:p>
            <a:pPr>
              <a:spcAft>
                <a:spcPts val="1000"/>
              </a:spcAft>
              <a:buNone/>
              <a:defRPr sz="1700">
                <a:solidFill>
                  <a:srgbClr val="FFFFFF"/>
                </a:solidFill>
              </a:defRPr>
            </a:pPr>
            <a:r>
              <a:t>UNet / ResNet</a:t>
            </a:r>
            <a:br/>
            <a:r>
              <a:t>DiceLoss</a:t>
            </a:r>
            <a:br/>
            <a:r>
              <a:t>Adam Optimizer</a:t>
            </a:r>
          </a:p>
          <a:p>
            <a:pPr>
              <a:buNone/>
              <a:defRPr sz="1300">
                <a:solidFill>
                  <a:srgbClr val="6B6B70"/>
                </a:solidFill>
                <a:latin typeface="Courier New"/>
                <a:ea typeface="Courier New"/>
                <a:cs typeface="Courier New"/>
              </a:defRPr>
            </a:pPr>
            <a:r>
              <a:t>MONAI Networks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48507D94-BD2E-41B3-9DD5-4BF585B4C37A}"/>
              </a:ext>
            </a:extLst>
          </p:cNvPr>
          <p:cNvSpPr>
            <a:spLocks noGrp="1"/>
          </p:cNvSpPr>
          <p:nvPr/>
        </p:nvSpPr>
        <p:spPr>
          <a:xfrm>
            <a:off x="8275320" y="3699064"/>
            <a:ext cx="274320" cy="274320"/>
          </a:xfrm>
          <a:prstGeom prst="rightArrow">
            <a:avLst/>
          </a:prstGeom>
          <a:solidFill>
            <a:srgbClr val="4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F61566-7B41-4517-AE98-B660357A784A}"/>
              </a:ext>
            </a:extLst>
          </p:cNvPr>
          <p:cNvSpPr>
            <a:spLocks noGrp="1"/>
          </p:cNvSpPr>
          <p:nvPr/>
        </p:nvSpPr>
        <p:spPr>
          <a:xfrm>
            <a:off x="8686800" y="2464624"/>
            <a:ext cx="54864" cy="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A4A5838-9C43-4221-923C-9E4B604704F6}"/>
              </a:ext>
            </a:extLst>
          </p:cNvPr>
          <p:cNvSpPr>
            <a:spLocks noGrp="1"/>
          </p:cNvSpPr>
          <p:nvPr/>
        </p:nvSpPr>
        <p:spPr>
          <a:xfrm>
            <a:off x="8741664" y="2464624"/>
            <a:ext cx="2231136" cy="274320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anchor="ctr"/>
          <a:lstStyle/>
          <a:p>
            <a:pPr algn="ctr">
              <a:spcAft>
                <a:spcPts val="1000"/>
              </a:spcAft>
              <a:buNone/>
              <a:defRPr sz="17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推理验证</a:t>
            </a:r>
            <a:br/>
            <a:r>
              <a:t>Inference</a:t>
            </a:r>
          </a:p>
          <a:p>
            <a:pPr>
              <a:spcAft>
                <a:spcPts val="1000"/>
              </a:spcAft>
              <a:buNone/>
              <a:defRPr sz="1700">
                <a:solidFill>
                  <a:srgbClr val="FFFFFF"/>
                </a:solidFill>
              </a:defRPr>
            </a:pPr>
            <a:r>
              <a:t>SlidingWindowInferior</a:t>
            </a:r>
            <a:br/>
            <a:r>
              <a:t>Validation Metrics</a:t>
            </a:r>
          </a:p>
          <a:p>
            <a:pPr>
              <a:buNone/>
              <a:defRPr sz="1300">
                <a:solidFill>
                  <a:srgbClr val="6B6B70"/>
                </a:solidFill>
                <a:latin typeface="Courier New"/>
                <a:ea typeface="Courier New"/>
                <a:cs typeface="Courier New"/>
              </a:defRPr>
            </a:pPr>
            <a:r>
              <a:t>MONAI Infer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261AB4-8F96-49DB-AC84-81395E758596}"/>
              </a:ext>
            </a:extLst>
          </p:cNvPr>
          <p:cNvSpPr>
            <a:spLocks noGrp="1"/>
          </p:cNvSpPr>
          <p:nvPr/>
        </p:nvSpPr>
        <p:spPr>
          <a:xfrm>
            <a:off x="73152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A3 / 20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D2138C-47FA-4384-8ED2-63CC5E5901C3}"/>
              </a:ext>
            </a:extLst>
          </p:cNvPr>
          <p:cNvSpPr>
            <a:spLocks noGrp="1"/>
          </p:cNvSpPr>
          <p:nvPr/>
        </p:nvSpPr>
        <p:spPr>
          <a:xfrm>
            <a:off x="6400800" y="6446520"/>
            <a:ext cx="5239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技术附录 Technical Appendix</a:t>
            </a:r>
          </a:p>
        </p:txBody>
      </p:sp>
    </p:spTree>
    <p:extLst>
      <p:ext uri="{BB962C8B-B14F-4D97-AF65-F5344CB8AC3E}">
        <p14:creationId xmlns:p14="http://schemas.microsoft.com/office/powerpoint/2010/main" val="690320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B03A4A-EC3C-4553-9ED7-0FA067AC63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A81E700-239B-49A0-9205-42DF9D7F1FCA}"/>
              </a:ext>
            </a:extLst>
          </p:cNvPr>
          <p:cNvSpPr>
            <a:spLocks noGrp="1"/>
          </p:cNvSpPr>
          <p:nvPr/>
        </p:nvSpPr>
        <p:spPr>
          <a:xfrm>
            <a:off x="7315200" y="-2743200"/>
            <a:ext cx="7315200" cy="7315200"/>
          </a:xfrm>
          <a:prstGeom prst="ellipse">
            <a:avLst/>
          </a:prstGeom>
          <a:solidFill>
            <a:srgbClr val="0D1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325CB7-5A0E-4027-A0B5-C882B01710F2}"/>
              </a:ext>
            </a:extLst>
          </p:cNvPr>
          <p:cNvSpPr>
            <a:spLocks noGrp="1"/>
          </p:cNvSpPr>
          <p:nvPr/>
        </p:nvSpPr>
        <p:spPr>
          <a:xfrm>
            <a:off x="73152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APPENDIX A4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C26E36-5C46-4931-BD70-1C73EC7ABE4E}"/>
              </a:ext>
            </a:extLst>
          </p:cNvPr>
          <p:cNvSpPr>
            <a:spLocks noGrp="1"/>
          </p:cNvSpPr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Agent 架构详解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4A7676-9021-4208-A6B8-02DD9E54E682}"/>
              </a:ext>
            </a:extLst>
          </p:cNvPr>
          <p:cNvSpPr>
            <a:spLocks noGrp="1"/>
          </p:cNvSpPr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Agent Architecture Details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1D7791-AF91-4023-BA17-F9772F667912}"/>
              </a:ext>
            </a:extLst>
          </p:cNvPr>
          <p:cNvSpPr>
            <a:spLocks noGrp="1"/>
          </p:cNvSpPr>
          <p:nvPr/>
        </p:nvSpPr>
        <p:spPr>
          <a:xfrm>
            <a:off x="731520" y="14173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五个Agent的LLM骨干、工具与安全护栏  |  LLM backbones, tools, and guardrails</a:t>
            </a:r>
          </a:p>
        </p:txBody>
      </p:sp>
      <p:graphicFrame>
        <p:nvGraphicFramePr>
          <p:cNvPr id="18" name="Table 7"/>
          <p:cNvGraphicFramePr/>
          <p:nvPr/>
        </p:nvGraphicFramePr>
        <p:xfrm>
          <a:off x="1069848" y="1920240"/>
          <a:ext cx="100584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Agent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LLM骨干 Backbone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工具 Tools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安全护栏 Guardrails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DataAgent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确定性模板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字段策略 / 清单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标识符、路径、影像字段阻断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AnalysisAgent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Spark Local / Step 回退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聚合统计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只允许批准聚合上下文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EvidenceAgent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Spark Local / Step 回退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证据审阅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输出临床越权门禁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ReportAgent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Spark Local / Step 回退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结构化报告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不得新增数字；人工审批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Orchestrator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Hybrid routing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就绪探测 / 回执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安全阻断失败闭合；不外发原始数据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E4C6427-7B1F-4947-B491-4AAA722F4D13}"/>
              </a:ext>
            </a:extLst>
          </p:cNvPr>
          <p:cNvSpPr>
            <a:spLocks noGrp="1"/>
          </p:cNvSpPr>
          <p:nvPr/>
        </p:nvSpPr>
        <p:spPr>
          <a:xfrm>
            <a:off x="73152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A4 / 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6105A8-CE4E-4BB5-AA4A-BE91BA3F644B}"/>
              </a:ext>
            </a:extLst>
          </p:cNvPr>
          <p:cNvSpPr>
            <a:spLocks noGrp="1"/>
          </p:cNvSpPr>
          <p:nvPr/>
        </p:nvSpPr>
        <p:spPr>
          <a:xfrm>
            <a:off x="6400800" y="6446520"/>
            <a:ext cx="5239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技术附录 Technical Appendix</a:t>
            </a:r>
          </a:p>
        </p:txBody>
      </p:sp>
    </p:spTree>
    <p:extLst>
      <p:ext uri="{BB962C8B-B14F-4D97-AF65-F5344CB8AC3E}">
        <p14:creationId xmlns:p14="http://schemas.microsoft.com/office/powerpoint/2010/main" val="1498841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1D8951-8429-41FD-81F2-3C63F2321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AB8A3D-449C-4387-BE03-23ABE266D35C}"/>
              </a:ext>
            </a:extLst>
          </p:cNvPr>
          <p:cNvSpPr>
            <a:spLocks noGrp="1"/>
          </p:cNvSpPr>
          <p:nvPr/>
        </p:nvSpPr>
        <p:spPr>
          <a:xfrm>
            <a:off x="7315200" y="-2743200"/>
            <a:ext cx="7315200" cy="7315200"/>
          </a:xfrm>
          <a:prstGeom prst="ellipse">
            <a:avLst/>
          </a:prstGeom>
          <a:solidFill>
            <a:srgbClr val="0D1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CDDF1E-15C7-4930-AF3F-A847EC11E873}"/>
              </a:ext>
            </a:extLst>
          </p:cNvPr>
          <p:cNvSpPr>
            <a:spLocks noGrp="1"/>
          </p:cNvSpPr>
          <p:nvPr/>
        </p:nvSpPr>
        <p:spPr>
          <a:xfrm>
            <a:off x="73152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APPENDIX A5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60CF80-EB31-4F28-AC44-24C70D685FD4}"/>
              </a:ext>
            </a:extLst>
          </p:cNvPr>
          <p:cNvSpPr>
            <a:spLocks noGrp="1"/>
          </p:cNvSpPr>
          <p:nvPr/>
        </p:nvSpPr>
        <p:spPr>
          <a:xfrm>
            <a:off x="731520" y="594360"/>
            <a:ext cx="10728655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部署与本地推理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45545F-BFF9-4CF8-8DE3-CBBBC4DDB1F8}"/>
              </a:ext>
            </a:extLst>
          </p:cNvPr>
          <p:cNvSpPr>
            <a:spLocks noGrp="1"/>
          </p:cNvSpPr>
          <p:nvPr/>
        </p:nvSpPr>
        <p:spPr>
          <a:xfrm>
            <a:off x="731520" y="1097280"/>
            <a:ext cx="10728655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Deployment &amp; Local Inference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670E75-E84C-4C6D-8DC4-EFEAA7272134}"/>
              </a:ext>
            </a:extLst>
          </p:cNvPr>
          <p:cNvSpPr>
            <a:spLocks noGrp="1"/>
          </p:cNvSpPr>
          <p:nvPr/>
        </p:nvSpPr>
        <p:spPr>
          <a:xfrm>
            <a:off x="731520" y="1417320"/>
            <a:ext cx="10728655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三层部署：全栈容器、私有本地 LLM 与 Spark 本地算力  |  Three-layer deployment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623A84-75CE-473B-9944-F5124ED06203}"/>
              </a:ext>
            </a:extLst>
          </p:cNvPr>
          <p:cNvSpPr>
            <a:spLocks noGrp="1"/>
          </p:cNvSpPr>
          <p:nvPr/>
        </p:nvSpPr>
        <p:spPr>
          <a:xfrm>
            <a:off x="731520" y="2011680"/>
            <a:ext cx="54864" cy="10972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5C08734-4C6D-4AB9-AFD8-13AFD8589D2F}"/>
              </a:ext>
            </a:extLst>
          </p:cNvPr>
          <p:cNvSpPr>
            <a:spLocks noGrp="1"/>
          </p:cNvSpPr>
          <p:nvPr/>
        </p:nvSpPr>
        <p:spPr>
          <a:xfrm>
            <a:off x="786384" y="2011680"/>
            <a:ext cx="10673791" cy="1097280"/>
          </a:xfrm>
          <a:prstGeom prst="roundRect">
            <a:avLst>
              <a:gd name="adj" fmla="val 4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37160" anchor="ctr"/>
          <a:lstStyle/>
          <a:p>
            <a:pPr algn="ctr">
              <a:spcAft>
                <a:spcPts val="600"/>
              </a:spcAft>
              <a:buNone/>
              <a:defRPr sz="22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容器层 Container Layer</a:t>
            </a:r>
          </a:p>
          <a:p>
            <a:pPr>
              <a:spcAft>
                <a:spcPts val="400"/>
              </a:spcAft>
              <a:buNone/>
              <a:defRPr sz="17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Docker Compose · FastAPI / React / FLARE · 可复现环境</a:t>
            </a:r>
          </a:p>
          <a:p>
            <a:pPr>
              <a:buNone/>
              <a:defRPr sz="1300">
                <a:solidFill>
                  <a:srgbClr val="6B6B70"/>
                </a:solidFill>
                <a:latin typeface="Courier New"/>
                <a:ea typeface="Courier New"/>
                <a:cs typeface="Courier New"/>
              </a:defRPr>
            </a:pPr>
            <a:r>
              <a:t>Compose + CUDA runtime</a:t>
            </a: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7B75AFFB-C74D-4C92-A6CE-F9A59BEB16D5}"/>
              </a:ext>
            </a:extLst>
          </p:cNvPr>
          <p:cNvSpPr>
            <a:spLocks noGrp="1"/>
          </p:cNvSpPr>
          <p:nvPr/>
        </p:nvSpPr>
        <p:spPr>
          <a:xfrm>
            <a:off x="5958687" y="3136392"/>
            <a:ext cx="274320" cy="164592"/>
          </a:xfrm>
          <a:prstGeom prst="downArrow">
            <a:avLst/>
          </a:prstGeom>
          <a:solidFill>
            <a:srgbClr val="4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1C9384-1E70-472E-973A-A9E835A09B77}"/>
              </a:ext>
            </a:extLst>
          </p:cNvPr>
          <p:cNvSpPr>
            <a:spLocks noGrp="1"/>
          </p:cNvSpPr>
          <p:nvPr/>
        </p:nvSpPr>
        <p:spPr>
          <a:xfrm>
            <a:off x="731520" y="3337560"/>
            <a:ext cx="54864" cy="10972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62492B9-AAC0-417C-B333-C9B59574A882}"/>
              </a:ext>
            </a:extLst>
          </p:cNvPr>
          <p:cNvSpPr>
            <a:spLocks noGrp="1"/>
          </p:cNvSpPr>
          <p:nvPr/>
        </p:nvSpPr>
        <p:spPr>
          <a:xfrm>
            <a:off x="786384" y="3337560"/>
            <a:ext cx="10673791" cy="109728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37160" anchor="ctr"/>
          <a:lstStyle/>
          <a:p>
            <a:pPr algn="ctr">
              <a:spcAft>
                <a:spcPts val="600"/>
              </a:spcAft>
              <a:buNone/>
              <a:defRPr sz="22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本地 LLM 层 Local LLM Layer</a:t>
            </a:r>
          </a:p>
          <a:p>
            <a:pPr>
              <a:spcAft>
                <a:spcPts val="400"/>
              </a:spcAft>
              <a:buNone/>
              <a:defRPr sz="17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TensorRT-LLM · 仅绑定 127.0.0.1:8355 · 不暴露公网</a:t>
            </a:r>
          </a:p>
          <a:p>
            <a:pPr>
              <a:buNone/>
              <a:defRPr sz="1300">
                <a:solidFill>
                  <a:srgbClr val="6B6B70"/>
                </a:solidFill>
                <a:latin typeface="Courier New"/>
                <a:ea typeface="Courier New"/>
                <a:cs typeface="Courier New"/>
              </a:defRPr>
            </a:pPr>
            <a:r>
              <a:t>OpenAI-compatible private endpoint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89B5B55C-37D6-4A86-BB56-127429191955}"/>
              </a:ext>
            </a:extLst>
          </p:cNvPr>
          <p:cNvSpPr>
            <a:spLocks noGrp="1"/>
          </p:cNvSpPr>
          <p:nvPr/>
        </p:nvSpPr>
        <p:spPr>
          <a:xfrm>
            <a:off x="5958687" y="4462272"/>
            <a:ext cx="274320" cy="164592"/>
          </a:xfrm>
          <a:prstGeom prst="downArrow">
            <a:avLst/>
          </a:prstGeom>
          <a:solidFill>
            <a:srgbClr val="4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E846BE-B3C4-4DC0-993B-8B91C262F45C}"/>
              </a:ext>
            </a:extLst>
          </p:cNvPr>
          <p:cNvSpPr>
            <a:spLocks noGrp="1"/>
          </p:cNvSpPr>
          <p:nvPr/>
        </p:nvSpPr>
        <p:spPr>
          <a:xfrm>
            <a:off x="731520" y="4663440"/>
            <a:ext cx="54864" cy="10972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492C65A-0DE1-48A5-8722-A4C7D0653756}"/>
              </a:ext>
            </a:extLst>
          </p:cNvPr>
          <p:cNvSpPr>
            <a:spLocks noGrp="1"/>
          </p:cNvSpPr>
          <p:nvPr/>
        </p:nvSpPr>
        <p:spPr>
          <a:xfrm>
            <a:off x="786384" y="4663440"/>
            <a:ext cx="10673791" cy="109728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37160" anchor="ctr"/>
          <a:lstStyle/>
          <a:p>
            <a:pPr algn="ctr">
              <a:spcAft>
                <a:spcPts val="600"/>
              </a:spcAft>
              <a:buNone/>
              <a:defRPr sz="22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本地算力层 Spark Layer</a:t>
            </a:r>
          </a:p>
          <a:p>
            <a:pPr>
              <a:spcAft>
                <a:spcPts val="400"/>
              </a:spcAft>
              <a:buNone/>
              <a:defRPr sz="17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模型由 Spark 直连下载；训练、推理与回执均在本地执行</a:t>
            </a:r>
          </a:p>
          <a:p>
            <a:pPr>
              <a:buNone/>
              <a:defRPr sz="1300">
                <a:solidFill>
                  <a:srgbClr val="6B6B70"/>
                </a:solidFill>
                <a:latin typeface="Courier New"/>
                <a:ea typeface="Courier New"/>
                <a:cs typeface="Courier New"/>
              </a:defRPr>
            </a:pPr>
            <a:r>
              <a:t>DGX Spark + Intranet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D178B8-9CE1-4F23-9D53-CEA75A909560}"/>
              </a:ext>
            </a:extLst>
          </p:cNvPr>
          <p:cNvSpPr>
            <a:spLocks noGrp="1"/>
          </p:cNvSpPr>
          <p:nvPr/>
        </p:nvSpPr>
        <p:spPr>
          <a:xfrm>
            <a:off x="73152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A5 / 20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6FDFF8-C98E-41D0-A1F9-C049125A1858}"/>
              </a:ext>
            </a:extLst>
          </p:cNvPr>
          <p:cNvSpPr>
            <a:spLocks noGrp="1"/>
          </p:cNvSpPr>
          <p:nvPr/>
        </p:nvSpPr>
        <p:spPr>
          <a:xfrm>
            <a:off x="6400800" y="6446520"/>
            <a:ext cx="5239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技术附录 Technical Appendix</a:t>
            </a:r>
          </a:p>
        </p:txBody>
      </p:sp>
    </p:spTree>
    <p:extLst>
      <p:ext uri="{BB962C8B-B14F-4D97-AF65-F5344CB8AC3E}">
        <p14:creationId xmlns:p14="http://schemas.microsoft.com/office/powerpoint/2010/main" val="1553315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E8F7A0-83DC-496B-BE0E-B785AA4D38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2C1FD9D-43B4-4C62-BD0F-E6864D1C97E1}"/>
              </a:ext>
            </a:extLst>
          </p:cNvPr>
          <p:cNvSpPr>
            <a:spLocks noGrp="1"/>
          </p:cNvSpPr>
          <p:nvPr/>
        </p:nvSpPr>
        <p:spPr>
          <a:xfrm>
            <a:off x="7315200" y="-2743200"/>
            <a:ext cx="7315200" cy="7315200"/>
          </a:xfrm>
          <a:prstGeom prst="ellipse">
            <a:avLst/>
          </a:prstGeom>
          <a:solidFill>
            <a:srgbClr val="0D1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7D1A08-08B8-477F-9883-C093687A9897}"/>
              </a:ext>
            </a:extLst>
          </p:cNvPr>
          <p:cNvSpPr>
            <a:spLocks noGrp="1"/>
          </p:cNvSpPr>
          <p:nvPr/>
        </p:nvSpPr>
        <p:spPr>
          <a:xfrm>
            <a:off x="73152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APPENDIX A6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AC58BF-16CA-46D5-9BAD-F34F6EAA6541}"/>
              </a:ext>
            </a:extLst>
          </p:cNvPr>
          <p:cNvSpPr>
            <a:spLocks noGrp="1"/>
          </p:cNvSpPr>
          <p:nvPr/>
        </p:nvSpPr>
        <p:spPr>
          <a:xfrm>
            <a:off x="731520" y="594360"/>
            <a:ext cx="10728655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工程证据就绪度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314F89-33DF-4510-8343-1CFC4F0F2B77}"/>
              </a:ext>
            </a:extLst>
          </p:cNvPr>
          <p:cNvSpPr>
            <a:spLocks noGrp="1"/>
          </p:cNvSpPr>
          <p:nvPr/>
        </p:nvSpPr>
        <p:spPr>
          <a:xfrm>
            <a:off x="731520" y="1097280"/>
            <a:ext cx="10728655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Engineering Evidence Readiness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C8C739-032D-451F-810B-9741E9001375}"/>
              </a:ext>
            </a:extLst>
          </p:cNvPr>
          <p:cNvSpPr>
            <a:spLocks noGrp="1"/>
          </p:cNvSpPr>
          <p:nvPr/>
        </p:nvSpPr>
        <p:spPr>
          <a:xfrm>
            <a:off x="731520" y="1417320"/>
            <a:ext cx="10728655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已核验工程证据 + 必须实机采集的本地 LLM 回执  |  Verified evidence + live-capture gate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F211DA-77B2-423F-80BA-313A5DF67433}"/>
              </a:ext>
            </a:extLst>
          </p:cNvPr>
          <p:cNvSpPr>
            <a:spLocks noGrp="1"/>
          </p:cNvSpPr>
          <p:nvPr/>
        </p:nvSpPr>
        <p:spPr>
          <a:xfrm>
            <a:off x="731520" y="2286000"/>
            <a:ext cx="320040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多种子实验</a:t>
            </a:r>
          </a:p>
          <a:p>
            <a:pPr algn="l"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Multi-seed trials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CF393B-81B0-48A1-B2C6-3C7133BF6DE5}"/>
              </a:ext>
            </a:extLst>
          </p:cNvPr>
          <p:cNvSpPr>
            <a:spLocks noGrp="1"/>
          </p:cNvSpPr>
          <p:nvPr/>
        </p:nvSpPr>
        <p:spPr>
          <a:xfrm>
            <a:off x="3931920" y="2313432"/>
            <a:ext cx="5486400" cy="23774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5328AE-EF25-4C3B-B2FC-3CFC5464E923}"/>
              </a:ext>
            </a:extLst>
          </p:cNvPr>
          <p:cNvSpPr>
            <a:spLocks noGrp="1"/>
          </p:cNvSpPr>
          <p:nvPr/>
        </p:nvSpPr>
        <p:spPr>
          <a:xfrm>
            <a:off x="9509760" y="2286000"/>
            <a:ext cx="1371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F7057B-59F4-47EB-B801-5D49088E43CF}"/>
              </a:ext>
            </a:extLst>
          </p:cNvPr>
          <p:cNvSpPr>
            <a:spLocks noGrp="1"/>
          </p:cNvSpPr>
          <p:nvPr/>
        </p:nvSpPr>
        <p:spPr>
          <a:xfrm>
            <a:off x="731520" y="3017520"/>
            <a:ext cx="320040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样本级 DP-SGD</a:t>
            </a:r>
          </a:p>
          <a:p>
            <a:pPr algn="l"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Sample-level DP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259654-0B25-4CCC-9A40-4567F5B896A0}"/>
              </a:ext>
            </a:extLst>
          </p:cNvPr>
          <p:cNvSpPr>
            <a:spLocks noGrp="1"/>
          </p:cNvSpPr>
          <p:nvPr/>
        </p:nvSpPr>
        <p:spPr>
          <a:xfrm>
            <a:off x="3931920" y="3044952"/>
            <a:ext cx="4663440" cy="23774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06B845-BB59-4EE5-BC5D-C47796D3C76F}"/>
              </a:ext>
            </a:extLst>
          </p:cNvPr>
          <p:cNvSpPr>
            <a:spLocks noGrp="1"/>
          </p:cNvSpPr>
          <p:nvPr/>
        </p:nvSpPr>
        <p:spPr>
          <a:xfrm>
            <a:off x="8686800" y="3017520"/>
            <a:ext cx="1371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ε 6.077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D044D1-BA54-430F-8911-17FA85D157EE}"/>
              </a:ext>
            </a:extLst>
          </p:cNvPr>
          <p:cNvSpPr>
            <a:spLocks noGrp="1"/>
          </p:cNvSpPr>
          <p:nvPr/>
        </p:nvSpPr>
        <p:spPr>
          <a:xfrm>
            <a:off x="731520" y="3749039"/>
            <a:ext cx="320040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跨设备 mTLS</a:t>
            </a:r>
          </a:p>
          <a:p>
            <a:pPr algn="l"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Cross-device mTLS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0BD5F8-A240-4AD3-88D8-CC464381D1E8}"/>
              </a:ext>
            </a:extLst>
          </p:cNvPr>
          <p:cNvSpPr>
            <a:spLocks noGrp="1"/>
          </p:cNvSpPr>
          <p:nvPr/>
        </p:nvSpPr>
        <p:spPr>
          <a:xfrm>
            <a:off x="3931920" y="3776471"/>
            <a:ext cx="2194560" cy="23774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F91E5A-5402-4FF0-BA8A-2AD8AC076693}"/>
              </a:ext>
            </a:extLst>
          </p:cNvPr>
          <p:cNvSpPr>
            <a:spLocks noGrp="1"/>
          </p:cNvSpPr>
          <p:nvPr/>
        </p:nvSpPr>
        <p:spPr>
          <a:xfrm>
            <a:off x="6217920" y="3749039"/>
            <a:ext cx="1371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5F625E-F222-4336-A4B0-7EC6A03219CB}"/>
              </a:ext>
            </a:extLst>
          </p:cNvPr>
          <p:cNvSpPr>
            <a:spLocks noGrp="1"/>
          </p:cNvSpPr>
          <p:nvPr/>
        </p:nvSpPr>
        <p:spPr>
          <a:xfrm>
            <a:off x="731520" y="4480560"/>
            <a:ext cx="320040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本地 LLM 实机证据</a:t>
            </a:r>
          </a:p>
          <a:p>
            <a:pPr algn="l"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Local LLM live evidence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18CAC0-4A90-4C95-AF4C-8F217556F181}"/>
              </a:ext>
            </a:extLst>
          </p:cNvPr>
          <p:cNvSpPr>
            <a:spLocks noGrp="1"/>
          </p:cNvSpPr>
          <p:nvPr/>
        </p:nvSpPr>
        <p:spPr>
          <a:xfrm>
            <a:off x="3931920" y="4507992"/>
            <a:ext cx="5047488" cy="23774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FD9630-1EE5-4B24-8C47-8D6B2DF619C0}"/>
              </a:ext>
            </a:extLst>
          </p:cNvPr>
          <p:cNvSpPr>
            <a:spLocks noGrp="1"/>
          </p:cNvSpPr>
          <p:nvPr/>
        </p:nvSpPr>
        <p:spPr>
          <a:xfrm>
            <a:off x="9070848" y="4480560"/>
            <a:ext cx="1371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PENDING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B8BD80-0756-4310-A012-E30C09D7988B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已核验：5 seeds × 5 策略、DP-SGD 会计、Spark–Mac mTLS 与 Agent 26/26 红队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176D66-66DF-4F17-AA0C-893F1A951BF2}"/>
              </a:ext>
            </a:extLst>
          </p:cNvPr>
          <p:cNvSpPr>
            <a:spLocks noGrp="1"/>
          </p:cNvSpPr>
          <p:nvPr/>
        </p:nvSpPr>
        <p:spPr>
          <a:xfrm>
            <a:off x="731520" y="6144768"/>
            <a:ext cx="10728655" cy="25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边界声明 Boundary: 本地 LLM 仅在真实 Spark 回执、GPU 快照与本地红队齐备后标为 VERIFIED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D57FD7-19FB-43A5-8C2D-8C93FE66AEBC}"/>
              </a:ext>
            </a:extLst>
          </p:cNvPr>
          <p:cNvSpPr>
            <a:spLocks noGrp="1"/>
          </p:cNvSpPr>
          <p:nvPr/>
        </p:nvSpPr>
        <p:spPr>
          <a:xfrm>
            <a:off x="73152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A6 / 20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A4A839-5C92-43C8-8832-4154CC1E0E36}"/>
              </a:ext>
            </a:extLst>
          </p:cNvPr>
          <p:cNvSpPr>
            <a:spLocks noGrp="1"/>
          </p:cNvSpPr>
          <p:nvPr/>
        </p:nvSpPr>
        <p:spPr>
          <a:xfrm>
            <a:off x="6400800" y="6446520"/>
            <a:ext cx="5239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技术附录 Technical Appendix</a:t>
            </a:r>
          </a:p>
        </p:txBody>
      </p:sp>
    </p:spTree>
    <p:extLst>
      <p:ext uri="{BB962C8B-B14F-4D97-AF65-F5344CB8AC3E}">
        <p14:creationId xmlns:p14="http://schemas.microsoft.com/office/powerpoint/2010/main" val="44775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1E6AEF-6AA5-4B47-B171-42CF243938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C4F4CB3-E0C9-47A4-BEEF-902B88A4E460}"/>
              </a:ext>
            </a:extLst>
          </p:cNvPr>
          <p:cNvSpPr>
            <a:spLocks noGrp="1"/>
          </p:cNvSpPr>
          <p:nvPr/>
        </p:nvSpPr>
        <p:spPr>
          <a:xfrm>
            <a:off x="7315200" y="-2743200"/>
            <a:ext cx="7315200" cy="7315200"/>
          </a:xfrm>
          <a:prstGeom prst="ellipse">
            <a:avLst/>
          </a:prstGeom>
          <a:solidFill>
            <a:srgbClr val="0D1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68E7DA-2157-489A-B79A-AC05ABC95582}"/>
              </a:ext>
            </a:extLst>
          </p:cNvPr>
          <p:cNvSpPr>
            <a:spLocks noGrp="1"/>
          </p:cNvSpPr>
          <p:nvPr/>
        </p:nvSpPr>
        <p:spPr>
          <a:xfrm>
            <a:off x="73152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APPENDIX A7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7521E5-9F9B-4540-93F7-866025EF9E2D}"/>
              </a:ext>
            </a:extLst>
          </p:cNvPr>
          <p:cNvSpPr>
            <a:spLocks noGrp="1"/>
          </p:cNvSpPr>
          <p:nvPr/>
        </p:nvSpPr>
        <p:spPr>
          <a:xfrm>
            <a:off x="731520" y="594360"/>
            <a:ext cx="10728655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安全门控与审计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113E28-55E5-4DA3-BF73-8B89A031F422}"/>
              </a:ext>
            </a:extLst>
          </p:cNvPr>
          <p:cNvSpPr>
            <a:spLocks noGrp="1"/>
          </p:cNvSpPr>
          <p:nvPr/>
        </p:nvSpPr>
        <p:spPr>
          <a:xfrm>
            <a:off x="731520" y="1097280"/>
            <a:ext cx="10728655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Security Gates &amp; Audit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8179C9-E760-4ED7-B4EF-229CBBE9B2CE}"/>
              </a:ext>
            </a:extLst>
          </p:cNvPr>
          <p:cNvSpPr>
            <a:spLocks noGrp="1"/>
          </p:cNvSpPr>
          <p:nvPr/>
        </p:nvSpPr>
        <p:spPr>
          <a:xfrm>
            <a:off x="731520" y="1417320"/>
            <a:ext cx="10728655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已验证与待实机采证分开呈现  |  Verified and pending live evidence are separated</a:t>
            </a:r>
          </a:p>
        </p:txBody>
      </p:sp>
      <p:graphicFrame>
        <p:nvGraphicFramePr>
          <p:cNvPr id="19" name="Table 7"/>
          <p:cNvGraphicFramePr/>
          <p:nvPr/>
        </p:nvGraphicFramePr>
        <p:xfrm>
          <a:off x="1069848" y="1920240"/>
          <a:ext cx="100584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类别 Category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方法 Method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结果 Result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状态 Status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样本级 DP-SGD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RDP 会计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ε=6.076881, δ=1e-5；仅覆盖训练步骤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✓ PASS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跨设备 mTLS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两设备负面对照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错误身份被拒绝；运行令牌不导出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✓ PASS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Agent 安全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26 条固定用例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输入脱敏 + 输出临床越权门禁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✓ PASS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本地 LLM 回执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元数据最小化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模型 / 延迟 / GPU / 哈希；不存内容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PENDING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本地 LLM 红队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12 输入 + 14 输出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需真实本地端点；回执不 seed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PENDING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9DE6741-A4C7-4162-92EC-F60DFA6C779E}"/>
              </a:ext>
            </a:extLst>
          </p:cNvPr>
          <p:cNvSpPr>
            <a:spLocks noGrp="1"/>
          </p:cNvSpPr>
          <p:nvPr/>
        </p:nvSpPr>
        <p:spPr>
          <a:xfrm>
            <a:off x="731520" y="6144768"/>
            <a:ext cx="10728655" cy="25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边界声明 Boundary: PENDING 不是通过结论；没有真实 Spark 本地模型回执时，系统明确显示 NOT CLAIMED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F12341-32B8-45CB-B898-945512CF000E}"/>
              </a:ext>
            </a:extLst>
          </p:cNvPr>
          <p:cNvSpPr>
            <a:spLocks noGrp="1"/>
          </p:cNvSpPr>
          <p:nvPr/>
        </p:nvSpPr>
        <p:spPr>
          <a:xfrm>
            <a:off x="73152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A7 / 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8C7D4A-5885-45DB-B868-2887145C33A5}"/>
              </a:ext>
            </a:extLst>
          </p:cNvPr>
          <p:cNvSpPr>
            <a:spLocks noGrp="1"/>
          </p:cNvSpPr>
          <p:nvPr/>
        </p:nvSpPr>
        <p:spPr>
          <a:xfrm>
            <a:off x="6400800" y="6446520"/>
            <a:ext cx="5239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技术附录 Technical Appendix</a:t>
            </a:r>
          </a:p>
        </p:txBody>
      </p:sp>
    </p:spTree>
    <p:extLst>
      <p:ext uri="{BB962C8B-B14F-4D97-AF65-F5344CB8AC3E}">
        <p14:creationId xmlns:p14="http://schemas.microsoft.com/office/powerpoint/2010/main" val="699285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77F827-76CA-46CC-A685-3EF6A2CD64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13A30F0-87F3-4AC3-8612-BBB3C1F2C5D6}"/>
              </a:ext>
            </a:extLst>
          </p:cNvPr>
          <p:cNvSpPr>
            <a:spLocks noGrp="1"/>
          </p:cNvSpPr>
          <p:nvPr/>
        </p:nvSpPr>
        <p:spPr>
          <a:xfrm>
            <a:off x="7315200" y="-2743200"/>
            <a:ext cx="7315200" cy="7315200"/>
          </a:xfrm>
          <a:prstGeom prst="ellipse">
            <a:avLst/>
          </a:prstGeom>
          <a:solidFill>
            <a:srgbClr val="0D1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410591-FFFA-4B9A-BA87-4387803276E5}"/>
              </a:ext>
            </a:extLst>
          </p:cNvPr>
          <p:cNvSpPr>
            <a:spLocks noGrp="1"/>
          </p:cNvSpPr>
          <p:nvPr/>
        </p:nvSpPr>
        <p:spPr>
          <a:xfrm>
            <a:off x="73152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APPENDIX A8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9C26FF-16FD-4EAE-B9B6-124177206A92}"/>
              </a:ext>
            </a:extLst>
          </p:cNvPr>
          <p:cNvSpPr>
            <a:spLocks noGrp="1"/>
          </p:cNvSpPr>
          <p:nvPr/>
        </p:nvSpPr>
        <p:spPr>
          <a:xfrm>
            <a:off x="731520" y="5943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复现指南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A3E7BC-8B1E-41F1-BFFC-C6FF45BD493D}"/>
              </a:ext>
            </a:extLst>
          </p:cNvPr>
          <p:cNvSpPr>
            <a:spLocks noGrp="1"/>
          </p:cNvSpPr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Reproduction Guide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1B134C-5BB7-40F8-AF87-B61CCCC9928A}"/>
              </a:ext>
            </a:extLst>
          </p:cNvPr>
          <p:cNvSpPr>
            <a:spLocks noGrp="1"/>
          </p:cNvSpPr>
          <p:nvPr/>
        </p:nvSpPr>
        <p:spPr>
          <a:xfrm>
            <a:off x="731520" y="1417320"/>
            <a:ext cx="10728655" cy="701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一键核验四项工程证据；本地</a:t>
            </a:r>
            <a:r>
              <a:rPr dirty="0"/>
              <a:t> LLM </a:t>
            </a:r>
            <a:r>
              <a:rPr dirty="0" err="1"/>
              <a:t>实机证据单独、可选核验</a:t>
            </a:r>
            <a:r>
              <a:rPr dirty="0"/>
              <a:t>  |  Mandatory + optional live evidence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CF1EAC-12FC-4580-9A54-9CC7544CED9B}"/>
              </a:ext>
            </a:extLst>
          </p:cNvPr>
          <p:cNvSpPr>
            <a:spLocks noGrp="1"/>
          </p:cNvSpPr>
          <p:nvPr/>
        </p:nvSpPr>
        <p:spPr>
          <a:xfrm>
            <a:off x="731520" y="1920240"/>
            <a:ext cx="5486400" cy="274320"/>
          </a:xfrm>
          <a:prstGeom prst="rect">
            <a:avLst/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D01C09-C036-44DA-9F67-A1EC233378F0}"/>
              </a:ext>
            </a:extLst>
          </p:cNvPr>
          <p:cNvSpPr>
            <a:spLocks noGrp="1"/>
          </p:cNvSpPr>
          <p:nvPr/>
        </p:nvSpPr>
        <p:spPr>
          <a:xfrm>
            <a:off x="868680" y="193852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00" b="1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rPr dirty="0" err="1"/>
              <a:t>review_demo.sh</a:t>
            </a:r>
            <a:r>
              <a:rPr dirty="0"/>
              <a:t> — terminal output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30F359-5624-41B7-81F3-F6DFE40FEFB8}"/>
              </a:ext>
            </a:extLst>
          </p:cNvPr>
          <p:cNvSpPr>
            <a:spLocks noGrp="1"/>
          </p:cNvSpPr>
          <p:nvPr/>
        </p:nvSpPr>
        <p:spPr>
          <a:xfrm>
            <a:off x="731520" y="2194560"/>
            <a:ext cx="5486400" cy="35661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anchor="ctr"/>
          <a:lstStyle/>
          <a:p>
            <a:pPr algn="ctr">
              <a:spcAft>
                <a:spcPts val="200"/>
              </a:spcAft>
              <a:buNone/>
              <a:defRPr sz="1200">
                <a:solidFill>
                  <a:srgbClr val="E0E0E0"/>
                </a:solidFill>
                <a:latin typeface="Courier New"/>
                <a:ea typeface="Courier New"/>
                <a:cs typeface="Courier New"/>
              </a:defRPr>
            </a:pPr>
            <a:r>
              <a:rPr dirty="0"/>
              <a:t>$ git clone https://</a:t>
            </a:r>
            <a:r>
              <a:rPr dirty="0" err="1"/>
              <a:t>github.com</a:t>
            </a:r>
            <a:r>
              <a:rPr dirty="0"/>
              <a:t>/</a:t>
            </a:r>
            <a:r>
              <a:rPr dirty="0" err="1"/>
              <a:t>dingyucanada</a:t>
            </a:r>
            <a:r>
              <a:rPr dirty="0"/>
              <a:t>/</a:t>
            </a:r>
            <a:r>
              <a:rPr dirty="0" err="1"/>
              <a:t>RareLink</a:t>
            </a:r>
            <a:endParaRPr dirty="0"/>
          </a:p>
          <a:p>
            <a:pPr>
              <a:spcAft>
                <a:spcPts val="200"/>
              </a:spcAft>
              <a:buNone/>
              <a:defRPr sz="1200">
                <a:solidFill>
                  <a:srgbClr val="E0E0E0"/>
                </a:solidFill>
                <a:latin typeface="Courier New"/>
                <a:ea typeface="Courier New"/>
                <a:cs typeface="Courier New"/>
              </a:defRPr>
            </a:pPr>
            <a:r>
              <a:rPr dirty="0"/>
              <a:t>$ cd </a:t>
            </a:r>
            <a:r>
              <a:rPr dirty="0" err="1"/>
              <a:t>RareLink</a:t>
            </a:r>
            <a:r>
              <a:rPr dirty="0"/>
              <a:t> &amp;&amp; bash scripts/</a:t>
            </a:r>
            <a:r>
              <a:rPr dirty="0" err="1"/>
              <a:t>review_demo.sh</a:t>
            </a:r>
            <a:endParaRPr dirty="0"/>
          </a:p>
          <a:p>
            <a:pPr>
              <a:spcAft>
                <a:spcPts val="200"/>
              </a:spcAft>
              <a:buNone/>
              <a:defRPr sz="1200">
                <a:solidFill>
                  <a:srgbClr val="6B6B70"/>
                </a:solidFill>
                <a:latin typeface="Courier New"/>
                <a:ea typeface="Courier New"/>
                <a:cs typeface="Courier New"/>
              </a:defRPr>
            </a:pPr>
            <a:endParaRPr dirty="0"/>
          </a:p>
          <a:p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  <a:r>
              <a:rPr dirty="0"/>
              <a:t>[✓] 25 </a:t>
            </a:r>
            <a:r>
              <a:rPr dirty="0" err="1"/>
              <a:t>项五种子实验</a:t>
            </a:r>
            <a:r>
              <a:rPr dirty="0"/>
              <a:t> / DP-SGD / </a:t>
            </a:r>
            <a:r>
              <a:rPr dirty="0" err="1"/>
              <a:t>两设备</a:t>
            </a:r>
            <a:r>
              <a:rPr dirty="0"/>
              <a:t> </a:t>
            </a:r>
            <a:r>
              <a:rPr dirty="0" err="1"/>
              <a:t>mTLS</a:t>
            </a:r>
            <a:r>
              <a:rPr dirty="0"/>
              <a:t> / Agent </a:t>
            </a:r>
            <a:r>
              <a:rPr dirty="0" err="1"/>
              <a:t>红队</a:t>
            </a:r>
            <a:endParaRPr dirty="0"/>
          </a:p>
          <a:p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  <a:r>
              <a:rPr dirty="0"/>
              <a:t>[•] Spark </a:t>
            </a:r>
            <a:r>
              <a:rPr dirty="0" err="1"/>
              <a:t>本地</a:t>
            </a:r>
            <a:r>
              <a:rPr dirty="0"/>
              <a:t> </a:t>
            </a:r>
            <a:r>
              <a:rPr dirty="0" err="1"/>
              <a:t>LLM：未有真实回执时显示</a:t>
            </a:r>
            <a:r>
              <a:rPr dirty="0"/>
              <a:t> NOT CLAIMED</a:t>
            </a:r>
          </a:p>
          <a:p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  <a:endParaRPr dirty="0"/>
          </a:p>
          <a:p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  <a:r>
              <a:rPr dirty="0"/>
              <a:t># </a:t>
            </a:r>
            <a:r>
              <a:rPr dirty="0" err="1"/>
              <a:t>本地</a:t>
            </a:r>
            <a:r>
              <a:rPr dirty="0"/>
              <a:t> Spark </a:t>
            </a:r>
            <a:r>
              <a:rPr dirty="0" err="1"/>
              <a:t>已采集回执后</a:t>
            </a:r>
            <a:endParaRPr dirty="0"/>
          </a:p>
          <a:p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  <a:r>
              <a:rPr dirty="0"/>
              <a:t>$ make spark-local-verify</a:t>
            </a:r>
          </a:p>
          <a:p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  <a:r>
              <a:rPr dirty="0"/>
              <a:t>$ make spark-local-benchmark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F8158A-FAED-4E87-81AB-F6A0CF9F4C99}"/>
              </a:ext>
            </a:extLst>
          </p:cNvPr>
          <p:cNvSpPr>
            <a:spLocks noGrp="1"/>
          </p:cNvSpPr>
          <p:nvPr/>
        </p:nvSpPr>
        <p:spPr>
          <a:xfrm>
            <a:off x="6492240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验证步骤 Verification Steps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4D04701-DCA1-48D0-90D1-C454BCF2B92B}"/>
              </a:ext>
            </a:extLst>
          </p:cNvPr>
          <p:cNvSpPr>
            <a:spLocks noGrp="1"/>
          </p:cNvSpPr>
          <p:nvPr/>
        </p:nvSpPr>
        <p:spPr>
          <a:xfrm>
            <a:off x="6492240" y="2286000"/>
            <a:ext cx="4572000" cy="566928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anchor="ctr"/>
          <a:lstStyle/>
          <a:p>
            <a:pPr algn="ctr">
              <a:spcAft>
                <a:spcPts val="200"/>
              </a:spcAft>
              <a:buNone/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1. 克隆仓库 Clone repo</a:t>
            </a:r>
          </a:p>
          <a:p>
            <a:pPr>
              <a:buNone/>
              <a:defRPr sz="1100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git clone dingyucanada/RareLink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179C8D9-B4B0-4960-928B-6CE54061A8B2}"/>
              </a:ext>
            </a:extLst>
          </p:cNvPr>
          <p:cNvSpPr>
            <a:spLocks noGrp="1"/>
          </p:cNvSpPr>
          <p:nvPr/>
        </p:nvSpPr>
        <p:spPr>
          <a:xfrm>
            <a:off x="6492240" y="2944368"/>
            <a:ext cx="4572000" cy="566928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anchor="ctr"/>
          <a:lstStyle/>
          <a:p>
            <a:pPr algn="ctr">
              <a:spcAft>
                <a:spcPts val="200"/>
              </a:spcAft>
              <a:buNone/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2. 安装依赖 Install deps</a:t>
            </a:r>
          </a:p>
          <a:p>
            <a:pPr>
              <a:buNone/>
              <a:defRPr sz="1100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pip install -e ".[dev]"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D42284D-186D-44DF-8A6B-5F3CBF932BC9}"/>
              </a:ext>
            </a:extLst>
          </p:cNvPr>
          <p:cNvSpPr>
            <a:spLocks noGrp="1"/>
          </p:cNvSpPr>
          <p:nvPr/>
        </p:nvSpPr>
        <p:spPr>
          <a:xfrm>
            <a:off x="6492240" y="3602736"/>
            <a:ext cx="4572000" cy="566928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anchor="ctr"/>
          <a:lstStyle/>
          <a:p>
            <a:pPr algn="ctr">
              <a:spcAft>
                <a:spcPts val="200"/>
              </a:spcAft>
              <a:buNone/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3. 启动 Docker Start Docker</a:t>
            </a:r>
          </a:p>
          <a:p>
            <a:pPr>
              <a:buNone/>
              <a:defRPr sz="1100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docker compose -f deploy/compose.spark.yml up -d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4969960-4EDF-4AAA-ACA2-780D4FC1FCCC}"/>
              </a:ext>
            </a:extLst>
          </p:cNvPr>
          <p:cNvSpPr>
            <a:spLocks noGrp="1"/>
          </p:cNvSpPr>
          <p:nvPr/>
        </p:nvSpPr>
        <p:spPr>
          <a:xfrm>
            <a:off x="6492240" y="4261104"/>
            <a:ext cx="4572000" cy="566928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anchor="ctr"/>
          <a:lstStyle/>
          <a:p>
            <a:pPr algn="ctr">
              <a:spcAft>
                <a:spcPts val="200"/>
              </a:spcAft>
              <a:buNone/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4. 必过核验 Required check</a:t>
            </a:r>
          </a:p>
          <a:p>
            <a:pPr>
              <a:buNone/>
              <a:defRPr sz="1100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bash scripts/review_demo.sh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D7DF2CC-0A0B-4DCF-97E1-8A2F6457068B}"/>
              </a:ext>
            </a:extLst>
          </p:cNvPr>
          <p:cNvSpPr>
            <a:spLocks noGrp="1"/>
          </p:cNvSpPr>
          <p:nvPr/>
        </p:nvSpPr>
        <p:spPr>
          <a:xfrm>
            <a:off x="6492240" y="4919472"/>
            <a:ext cx="4572000" cy="566928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anchor="ctr"/>
          <a:lstStyle/>
          <a:p>
            <a:pPr algn="ctr">
              <a:spcAft>
                <a:spcPts val="200"/>
              </a:spcAft>
              <a:buNone/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5. 可选本地 LLM</a:t>
            </a:r>
          </a:p>
          <a:p>
            <a:pPr>
              <a:buNone/>
              <a:defRPr sz="1100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capture → redteam → verify → benchmark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79AD1B-96C0-435D-BA7A-87E0D0889EF5}"/>
              </a:ext>
            </a:extLst>
          </p:cNvPr>
          <p:cNvSpPr>
            <a:spLocks noGrp="1"/>
          </p:cNvSpPr>
          <p:nvPr/>
        </p:nvSpPr>
        <p:spPr>
          <a:xfrm>
            <a:off x="731520" y="6144768"/>
            <a:ext cx="10728655" cy="25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边界声明 Boundary: 复现包不下载模型或影像；本地 LLM 回执不会被 seed 或伪造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D21C31-C121-4C1F-BC3E-05F327338CEE}"/>
              </a:ext>
            </a:extLst>
          </p:cNvPr>
          <p:cNvSpPr>
            <a:spLocks noGrp="1"/>
          </p:cNvSpPr>
          <p:nvPr/>
        </p:nvSpPr>
        <p:spPr>
          <a:xfrm>
            <a:off x="73152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A8 / 20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11CF07-AFA1-4FB8-93CD-6CFBEEA2F2FE}"/>
              </a:ext>
            </a:extLst>
          </p:cNvPr>
          <p:cNvSpPr>
            <a:spLocks noGrp="1"/>
          </p:cNvSpPr>
          <p:nvPr/>
        </p:nvSpPr>
        <p:spPr>
          <a:xfrm>
            <a:off x="6400800" y="6446520"/>
            <a:ext cx="5239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技术附录 Technical Appendix</a:t>
            </a:r>
          </a:p>
        </p:txBody>
      </p:sp>
    </p:spTree>
    <p:extLst>
      <p:ext uri="{BB962C8B-B14F-4D97-AF65-F5344CB8AC3E}">
        <p14:creationId xmlns:p14="http://schemas.microsoft.com/office/powerpoint/2010/main" val="1741771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2103</Words>
  <Application>Microsoft Macintosh PowerPoint</Application>
  <DocSecurity>0</DocSecurity>
  <PresentationFormat>Widescreen</PresentationFormat>
  <Paragraphs>489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Yu Ding</cp:lastModifiedBy>
  <cp:revision>1</cp:revision>
  <dcterms:created xsi:type="dcterms:W3CDTF">2026-07-19T07:15:54Z</dcterms:created>
  <dcterms:modified xsi:type="dcterms:W3CDTF">2026-07-19T07:32:02Z</dcterms:modified>
</cp:coreProperties>
</file>