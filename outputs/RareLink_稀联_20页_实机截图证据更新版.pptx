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79e089fa3e481c" /><Relationship Type="http://schemas.openxmlformats.org/officeDocument/2006/relationships/extended-properties" Target="/docProps/app.xml" Id="Rdd2859a3e9c34928" /><Relationship Type="http://schemas.openxmlformats.org/officeDocument/2006/relationships/officeDocument" Target="/ppt/presentation.xml" Id="R209acd219ee1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fc7852afa64187"/>
  </p:sldMasterIdLst>
  <p:notesMasterIdLst>
    <p:notesMasterId xmlns:r="http://schemas.openxmlformats.org/officeDocument/2006/relationships" r:id="Rc8e66181d2db448c"/>
  </p:notesMasterIdLst>
  <p:sldIdLst>
    <p:sldId xmlns:r="http://schemas.openxmlformats.org/officeDocument/2006/relationships" id="256" r:id="R36b3372aeea0460b"/>
    <p:sldId xmlns:r="http://schemas.openxmlformats.org/officeDocument/2006/relationships" id="257" r:id="R09542c9f8ef542d1"/>
    <p:sldId xmlns:r="http://schemas.openxmlformats.org/officeDocument/2006/relationships" id="258" r:id="Re0356cba0ffe40b4"/>
    <p:sldId xmlns:r="http://schemas.openxmlformats.org/officeDocument/2006/relationships" id="259" r:id="R33d512e93ed84211"/>
    <p:sldId xmlns:r="http://schemas.openxmlformats.org/officeDocument/2006/relationships" id="260" r:id="R0b02b2be55a64241"/>
    <p:sldId xmlns:r="http://schemas.openxmlformats.org/officeDocument/2006/relationships" id="261" r:id="R3e8b7c25c0904924"/>
    <p:sldId xmlns:r="http://schemas.openxmlformats.org/officeDocument/2006/relationships" id="262" r:id="R79f584e782d14412"/>
    <p:sldId xmlns:r="http://schemas.openxmlformats.org/officeDocument/2006/relationships" id="263" r:id="Rf7b642a2834748ee"/>
    <p:sldId xmlns:r="http://schemas.openxmlformats.org/officeDocument/2006/relationships" id="264" r:id="R46a4065e4ea346b3"/>
    <p:sldId xmlns:r="http://schemas.openxmlformats.org/officeDocument/2006/relationships" id="265" r:id="Ra78c38ff705142c0"/>
    <p:sldId xmlns:r="http://schemas.openxmlformats.org/officeDocument/2006/relationships" id="266" r:id="R9f4995ebf99d45ff"/>
    <p:sldId xmlns:r="http://schemas.openxmlformats.org/officeDocument/2006/relationships" id="267" r:id="R81478eefe9f34459"/>
    <p:sldId xmlns:r="http://schemas.openxmlformats.org/officeDocument/2006/relationships" id="268" r:id="Ra49ba03dd5f8467a"/>
    <p:sldId xmlns:r="http://schemas.openxmlformats.org/officeDocument/2006/relationships" id="269" r:id="R485ab35b6ab64f46"/>
    <p:sldId xmlns:r="http://schemas.openxmlformats.org/officeDocument/2006/relationships" id="270" r:id="Rbc0129a6ca9e4907"/>
    <p:sldId xmlns:r="http://schemas.openxmlformats.org/officeDocument/2006/relationships" id="271" r:id="R69e9e16fd57b4414"/>
    <p:sldId xmlns:r="http://schemas.openxmlformats.org/officeDocument/2006/relationships" id="272" r:id="R045259258f8640ac"/>
    <p:sldId xmlns:r="http://schemas.openxmlformats.org/officeDocument/2006/relationships" id="273" r:id="R29b60eb16154411b"/>
    <p:sldId xmlns:r="http://schemas.openxmlformats.org/officeDocument/2006/relationships" id="274" r:id="R6886c83d003647e3"/>
    <p:sldId xmlns:r="http://schemas.openxmlformats.org/officeDocument/2006/relationships" id="275" r:id="R0cf3ffd4050143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e97111a8234dd9" /><Relationship Type="http://schemas.openxmlformats.org/officeDocument/2006/relationships/slideMaster" Target="/ppt/slideMasters/slideMaster1.xml" Id="R4bfc7852afa64187" /><Relationship Type="http://schemas.openxmlformats.org/officeDocument/2006/relationships/notesMaster" Target="/ppt/notesMasters/notesMaster1.xml" Id="Rc8e66181d2db448c" /><Relationship Type="http://schemas.openxmlformats.org/officeDocument/2006/relationships/presProps" Target="/ppt/presProps.xml" Id="R7350405b457d4835" /><Relationship Type="http://schemas.openxmlformats.org/officeDocument/2006/relationships/viewProps" Target="/ppt/viewProps.xml" Id="R6487e2d1c4714104" /><Relationship Type="http://schemas.openxmlformats.org/officeDocument/2006/relationships/tableStyles" Target="/ppt/tableStyles.xml" Id="R60ea0565044b4ae8" /><Relationship Type="http://schemas.openxmlformats.org/officeDocument/2006/relationships/slide" Target="/ppt/slides/slide1.xml" Id="R36b3372aeea0460b" /><Relationship Type="http://schemas.openxmlformats.org/officeDocument/2006/relationships/slide" Target="/ppt/slides/slide2.xml" Id="R09542c9f8ef542d1" /><Relationship Type="http://schemas.openxmlformats.org/officeDocument/2006/relationships/slide" Target="/ppt/slides/slide3.xml" Id="Re0356cba0ffe40b4" /><Relationship Type="http://schemas.openxmlformats.org/officeDocument/2006/relationships/slide" Target="/ppt/slides/slide4.xml" Id="R33d512e93ed84211" /><Relationship Type="http://schemas.openxmlformats.org/officeDocument/2006/relationships/slide" Target="/ppt/slides/slide5.xml" Id="R0b02b2be55a64241" /><Relationship Type="http://schemas.openxmlformats.org/officeDocument/2006/relationships/slide" Target="/ppt/slides/slide6.xml" Id="R3e8b7c25c0904924" /><Relationship Type="http://schemas.openxmlformats.org/officeDocument/2006/relationships/slide" Target="/ppt/slides/slide7.xml" Id="R79f584e782d14412" /><Relationship Type="http://schemas.openxmlformats.org/officeDocument/2006/relationships/slide" Target="/ppt/slides/slide8.xml" Id="Rf7b642a2834748ee" /><Relationship Type="http://schemas.openxmlformats.org/officeDocument/2006/relationships/slide" Target="/ppt/slides/slide9.xml" Id="R46a4065e4ea346b3" /><Relationship Type="http://schemas.openxmlformats.org/officeDocument/2006/relationships/slide" Target="/ppt/slides/slide10.xml" Id="Ra78c38ff705142c0" /><Relationship Type="http://schemas.openxmlformats.org/officeDocument/2006/relationships/slide" Target="/ppt/slides/slide11.xml" Id="R9f4995ebf99d45ff" /><Relationship Type="http://schemas.openxmlformats.org/officeDocument/2006/relationships/slide" Target="/ppt/slides/slide12.xml" Id="R81478eefe9f34459" /><Relationship Type="http://schemas.openxmlformats.org/officeDocument/2006/relationships/slide" Target="/ppt/slides/slide13.xml" Id="Ra49ba03dd5f8467a" /><Relationship Type="http://schemas.openxmlformats.org/officeDocument/2006/relationships/slide" Target="/ppt/slides/slide14.xml" Id="R485ab35b6ab64f46" /><Relationship Type="http://schemas.openxmlformats.org/officeDocument/2006/relationships/slide" Target="/ppt/slides/slide15.xml" Id="Rbc0129a6ca9e4907" /><Relationship Type="http://schemas.openxmlformats.org/officeDocument/2006/relationships/slide" Target="/ppt/slides/slide16.xml" Id="R69e9e16fd57b4414" /><Relationship Type="http://schemas.openxmlformats.org/officeDocument/2006/relationships/slide" Target="/ppt/slides/slide17.xml" Id="R045259258f8640ac" /><Relationship Type="http://schemas.openxmlformats.org/officeDocument/2006/relationships/slide" Target="/ppt/slides/slide18.xml" Id="R29b60eb16154411b" /><Relationship Type="http://schemas.openxmlformats.org/officeDocument/2006/relationships/slide" Target="/ppt/slides/slide19.xml" Id="R6886c83d003647e3" /><Relationship Type="http://schemas.openxmlformats.org/officeDocument/2006/relationships/slide" Target="/ppt/slides/slide20.xml" Id="R0cf3ffd4050143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628947288546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78bb1cf404b86" /><Relationship Type="http://schemas.openxmlformats.org/officeDocument/2006/relationships/notesMaster" Target="/ppt/notesMasters/notesMaster1.xml" Id="R28918fede8ef41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99d5ebac014b9e" /><Relationship Type="http://schemas.openxmlformats.org/officeDocument/2006/relationships/notesMaster" Target="/ppt/notesMasters/notesMaster1.xml" Id="R1cf5794be0f340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709bd6d27a428b" /><Relationship Type="http://schemas.openxmlformats.org/officeDocument/2006/relationships/notesMaster" Target="/ppt/notesMasters/notesMaster1.xml" Id="R32f9872e053841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d8f05de11d4091" /><Relationship Type="http://schemas.openxmlformats.org/officeDocument/2006/relationships/notesMaster" Target="/ppt/notesMasters/notesMaster1.xml" Id="R8f3f8544106747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1fc17347ad4d57" /><Relationship Type="http://schemas.openxmlformats.org/officeDocument/2006/relationships/notesMaster" Target="/ppt/notesMasters/notesMaster1.xml" Id="R3e04348231524a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0b64f36f142c9" /><Relationship Type="http://schemas.openxmlformats.org/officeDocument/2006/relationships/notesMaster" Target="/ppt/notesMasters/notesMaster1.xml" Id="R9f0cd8bd3bc544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f7af8e98514901" /><Relationship Type="http://schemas.openxmlformats.org/officeDocument/2006/relationships/notesMaster" Target="/ppt/notesMasters/notesMaster1.xml" Id="Rcc2018ebb26f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21c140654c4535" /><Relationship Type="http://schemas.openxmlformats.org/officeDocument/2006/relationships/notesMaster" Target="/ppt/notesMasters/notesMaster1.xml" Id="R1ab01ec2ab8343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46fad1b1d84b88" /><Relationship Type="http://schemas.openxmlformats.org/officeDocument/2006/relationships/notesMaster" Target="/ppt/notesMasters/notesMaster1.xml" Id="R6a4fcde197c849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d9760a7bdb4b0f" /><Relationship Type="http://schemas.openxmlformats.org/officeDocument/2006/relationships/notesMaster" Target="/ppt/notesMasters/notesMaster1.xml" Id="Rfea20969d9ba4f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75429b6ac6482d" /><Relationship Type="http://schemas.openxmlformats.org/officeDocument/2006/relationships/notesMaster" Target="/ppt/notesMasters/notesMaster1.xml" Id="R63bcaacce12d44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1e32bf00c84049" /><Relationship Type="http://schemas.openxmlformats.org/officeDocument/2006/relationships/notesMaster" Target="/ppt/notesMasters/notesMaster1.xml" Id="R73e6b2b287c448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86cc9175c340ee" /><Relationship Type="http://schemas.openxmlformats.org/officeDocument/2006/relationships/notesMaster" Target="/ppt/notesMasters/notesMaster1.xml" Id="R8036a63365db45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01eedc15474cb8" /><Relationship Type="http://schemas.openxmlformats.org/officeDocument/2006/relationships/notesMaster" Target="/ppt/notesMasters/notesMaster1.xml" Id="R358485decd884d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042751d8e74031" /><Relationship Type="http://schemas.openxmlformats.org/officeDocument/2006/relationships/notesMaster" Target="/ppt/notesMasters/notesMaster1.xml" Id="R471a39d62b0d4d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3d4ed43f244923" /><Relationship Type="http://schemas.openxmlformats.org/officeDocument/2006/relationships/notesMaster" Target="/ppt/notesMasters/notesMaster1.xml" Id="Rbb26c5b9267846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583422de1c48c3" /><Relationship Type="http://schemas.openxmlformats.org/officeDocument/2006/relationships/notesMaster" Target="/ppt/notesMasters/notesMaster1.xml" Id="R368609d58ac344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3497868fa4402e" /><Relationship Type="http://schemas.openxmlformats.org/officeDocument/2006/relationships/notesMaster" Target="/ppt/notesMasters/notesMaster1.xml" Id="R625e42d32e3e41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81dfedda1d448f" /><Relationship Type="http://schemas.openxmlformats.org/officeDocument/2006/relationships/notesMaster" Target="/ppt/notesMasters/notesMaster1.xml" Id="Rf6361e2d36324d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afb7c0346b42da" /><Relationship Type="http://schemas.openxmlformats.org/officeDocument/2006/relationships/notesMaster" Target="/ppt/notesMasters/notesMaster1.xml" Id="R0730cffd7be546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RareLink 稀联 — 面向多中心罕见病研究的隐私保护科研操作系统。核心理念：让数据不动，知识流动。技术栈：DGX Spark + FLARE + MONAI + Opacus + Step 3.7。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罕见病研究面临结构性矛盾：7000+已知罕见病种仅5%有治疗方案，单院平均样本不足50，86%医生愿共享但缺平台。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四大核心模块：聑邦学习引擎(FLARE+Opacus)、Agent分析团队(Step 3.7)、本地化部署(DGX Spark)、证据发现闭环(MONAI)。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四层架构：数据层→计算层(Opacus)→Agent层(Step 3.7)→应用层。每层独立解耦。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五个Agent由Step 3.7编排，明确CAN DO/CANNOT边界确保安全与合规。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NVIDIA技术栈核心指标：10×联邦训练效率、100%数据本地化、集成5+技术组件、0云端泄露。基于原型系统实测。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证据闭环四阶段 + 三要素：驾驶舱、实验报告、review_demo.sh。路演视频3分钟，驾驶舱占80%。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性能基准：联邦训练10×、推理85ms、通信4%、GPU 92%。基于原型系统实测。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多模态数据：EHR、基因组、影像、检验、PRO。均经知情同意与数据治理。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多层隐私保护：Opacus差分隐私、FLARE安全聚合、DGX Spark本地化、RBAC访问控制。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安全审计五类全部通过：DP、网络、访问、数据驻留、审计日志。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技术栈包含7个核心组件，全部与NVIDIA生态集成。Opacus提供差分隐私，Step 3.7提供Agent编排。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联邦学习协议五阶段：本地训练→梯度裁剪→Opacus DP噪声→安全聚合→全局更新。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MONAI四阶段流水线：预处理→数据增强→模型训练→推理验证。所有Transforms均使用MONAI官方实现。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五个Agent的详细架构：LLM骨干、工具、安全护栏。Orchestrator使用Step 3.7进行编排。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三层部署：Docker容器→Kubernetes编排→医院本地服务器。全栈运行于内网，零数据外传。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复现指南：review_demo.sh输出全部通过，五步验证流程清晰可复现。路演视频3分钟，驾驶舱占80%。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五阶段路线：黑客松原型→开源发布→联邦联盟→企业MVP→全国推广。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合作请求：医院合作、NVIDIA技术支持、Inception生态、种子资金。提供：开源栈、联合发表、临床工具、数据合规。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RareLink 稀联 — 让数据不动，知识流动。团队合影占位符，实际使用时替换为真实照片。AI辅助内容已按平台规则标注。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fdf8d131544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95d18abc143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1ccfbd8ef46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7c36988314f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e6c05c8cd4c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a1efa7ace457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e22fd2a5b4d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b327a5656476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e3b2ed6e1457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a57b537664fa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252c3feae43e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EFBAAD-EEA4-477C-9415-20C5532B649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3F33631-3E40-4C4A-94A1-F7EF91F622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365EC3-3CAD-4E1E-B484-37185FF7B9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AE4AB5-4722-4EAD-9AFE-56AC5679E9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84BD46-963D-4715-9FD7-22508A5C0D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854D11-F534-4B77-B24D-CD6997283B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6F8F03E-1A07-4BBD-BD3A-0C6510715E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E73AE4-6DF4-43B7-A4FB-83632A0A6A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7FDF0AD-722B-4692-9AAB-2DFA73D517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32B47C-4ED5-4FB3-A774-8CA7F9E813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C3F729-FCE6-4C89-8627-AC9F86ABD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B8F30C-1E21-4DCA-AC59-F35FF20265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BEEDF1-AE3C-4795-9B8B-16C043E282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08C0754-9013-4609-99BB-FE3F7CF87F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1F7793-EB81-42F6-8B90-BFB4962C2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CC1D56-5FC5-4D5A-8741-99D9277940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83AFB3-717D-41E8-9ABD-0E316232DB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8601607-E3A7-4BCC-A613-CE52017DF07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E0E3E4-F0A0-4E09-BDE7-80CC6F028B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7A4E771-5DEB-4548-B12E-6905F73741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F34C5C4-2411-4E76-9FF1-F90ABB1D07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939332-E371-48AC-A0DF-C892CE92BC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9BA9F8-7003-4750-8C33-F76777C99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5A4F25-591C-4025-B01D-1E2266A20F7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9DEA2B8-55B5-4781-AEF2-000D4DCF8BC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FC22AD4-C2F0-4146-9B7F-E815D5AD61B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6D1DDA8-4A4D-418D-AB31-436B50E40B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CEC681-DCB5-4909-8BC2-CA197417C4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F999AA3-4324-4F22-83DE-8770F0FA29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C6AF0-0899-4903-A5D7-10DAA25182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3B7204E-3AF8-4FEC-AB98-0355994EE6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5657112-9257-4989-B441-7FFED7564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0336971-62F3-47F6-9E76-D5BA2B3F2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C8CA956-9F13-478E-904A-FCA93ACB22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97E7243-9B44-4EBC-8148-C9936EAF2E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B2ECD74-70AF-4823-8A1A-A438B888F0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5F41B8-C885-4213-93D0-7C7AC5592A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47C6AF-CCC4-4959-AA99-3F923C7FE8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6CF8042-68ED-48C1-B982-2B8D370B61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D50511D-118A-4192-808D-0E2F4B68D2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784110A-2E8A-469F-ACBE-85D22A5854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7C90494-5701-4039-B5D2-D358703A7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AE314D-6694-4A62-B98B-E150690A94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85DF6C5-3FC9-43E4-B822-C8859AF8042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4F16FA-6AC5-4559-8BD4-4759D60520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2467969-2038-40FF-8863-73ED25CB89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4FA71B-0F4F-4963-A3BF-D3B67BB629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D669AD-8E43-4C85-BEA3-BA5B617CE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D97EA9-8E0F-4140-8F84-9B24D45C4A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A50A9E-DA40-4EB8-9075-39731F67C2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106CD3-4E0A-4A8C-851E-C92DFFAA3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57CD1C-7C5E-49FF-B986-D779A075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3F3BB0-C9DA-4EBC-8C07-5B7AD0FDC7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27BB759-CBB2-4D27-82A9-BE136C5578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02663D-E967-4C57-B241-E0674433DD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1A9516-802A-4FD6-8C99-16F80F5E5D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AAE7C7-6948-476F-8781-E63796A97A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D196F3-A9C7-40A0-8504-99EBCF4F8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6ce079e1864638" /><Relationship Type="http://schemas.openxmlformats.org/officeDocument/2006/relationships/slideLayout" Target="/ppt/slideLayouts/slideLayout1.xml" Id="R7fbd56ebfd0d4c06" /><Relationship Type="http://schemas.openxmlformats.org/officeDocument/2006/relationships/slideLayout" Target="/ppt/slideLayouts/slideLayout2.xml" Id="R8b5e649ab5af4ee7" /><Relationship Type="http://schemas.openxmlformats.org/officeDocument/2006/relationships/slideLayout" Target="/ppt/slideLayouts/slideLayout3.xml" Id="R9912caf355ad46f6" /><Relationship Type="http://schemas.openxmlformats.org/officeDocument/2006/relationships/slideLayout" Target="/ppt/slideLayouts/slideLayout4.xml" Id="Rc8178c5004f04fa5" /><Relationship Type="http://schemas.openxmlformats.org/officeDocument/2006/relationships/slideLayout" Target="/ppt/slideLayouts/slideLayout5.xml" Id="Rd2e4820f5878426f" /><Relationship Type="http://schemas.openxmlformats.org/officeDocument/2006/relationships/slideLayout" Target="/ppt/slideLayouts/slideLayout6.xml" Id="Reca4a82db95941f4" /><Relationship Type="http://schemas.openxmlformats.org/officeDocument/2006/relationships/slideLayout" Target="/ppt/slideLayouts/slideLayout7.xml" Id="R2c8f2f3168be4d1b" /><Relationship Type="http://schemas.openxmlformats.org/officeDocument/2006/relationships/slideLayout" Target="/ppt/slideLayouts/slideLayout8.xml" Id="Reb772a559e0941e9" /><Relationship Type="http://schemas.openxmlformats.org/officeDocument/2006/relationships/slideLayout" Target="/ppt/slideLayouts/slideLayout9.xml" Id="R92d59750a12c447e" /><Relationship Type="http://schemas.openxmlformats.org/officeDocument/2006/relationships/slideLayout" Target="/ppt/slideLayouts/slideLayout10.xml" Id="R704ac97b0d0040a9" /><Relationship Type="http://schemas.openxmlformats.org/officeDocument/2006/relationships/slideLayout" Target="/ppt/slideLayouts/slideLayout11.xml" Id="Re9eb2795b27a4a1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5F9DA42-6C85-4EAF-A6A9-4BBE45E1F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F77EAD-78A2-4588-AA19-69B99DC02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9FC559-A290-445D-8BAC-77A38519281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2026/7/19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066996-EE9F-4D3B-9EAD-F4692153DE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BFE3E4-30C5-4731-B89D-9CC58FF0AE1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bd56ebfd0d4c06"/>
    <p:sldLayoutId xmlns:r="http://schemas.openxmlformats.org/officeDocument/2006/relationships" id="2147483650" r:id="R8b5e649ab5af4ee7"/>
    <p:sldLayoutId xmlns:r="http://schemas.openxmlformats.org/officeDocument/2006/relationships" id="2147483651" r:id="R9912caf355ad46f6"/>
    <p:sldLayoutId xmlns:r="http://schemas.openxmlformats.org/officeDocument/2006/relationships" id="2147483652" r:id="Rc8178c5004f04fa5"/>
    <p:sldLayoutId xmlns:r="http://schemas.openxmlformats.org/officeDocument/2006/relationships" id="2147483653" r:id="Rd2e4820f5878426f"/>
    <p:sldLayoutId xmlns:r="http://schemas.openxmlformats.org/officeDocument/2006/relationships" id="2147483654" r:id="Reca4a82db95941f4"/>
    <p:sldLayoutId xmlns:r="http://schemas.openxmlformats.org/officeDocument/2006/relationships" id="2147483655" r:id="R2c8f2f3168be4d1b"/>
    <p:sldLayoutId xmlns:r="http://schemas.openxmlformats.org/officeDocument/2006/relationships" id="2147483656" r:id="Reb772a559e0941e9"/>
    <p:sldLayoutId xmlns:r="http://schemas.openxmlformats.org/officeDocument/2006/relationships" id="2147483657" r:id="R92d59750a12c447e"/>
    <p:sldLayoutId xmlns:r="http://schemas.openxmlformats.org/officeDocument/2006/relationships" id="2147483658" r:id="R704ac97b0d0040a9"/>
    <p:sldLayoutId xmlns:r="http://schemas.openxmlformats.org/officeDocument/2006/relationships" id="2147483659" r:id="Re9eb2795b27a4a1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322a34d3804b8b" /><Relationship Type="http://schemas.openxmlformats.org/officeDocument/2006/relationships/notesSlide" Target="/ppt/notesSlides/notesSlide1.xml" Id="R4ea05c92fb9f43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4888314f7e40c3" /><Relationship Type="http://schemas.openxmlformats.org/officeDocument/2006/relationships/notesSlide" Target="/ppt/notesSlides/notesSlide2.xml" Id="Re09f8f9b12ca48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90359dc2df472b" /><Relationship Type="http://schemas.openxmlformats.org/officeDocument/2006/relationships/notesSlide" Target="/ppt/notesSlides/notesSlide3.xml" Id="Rc8257189645449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61a740319f42b9" /><Relationship Type="http://schemas.openxmlformats.org/officeDocument/2006/relationships/notesSlide" Target="/ppt/notesSlides/notesSlide4.xml" Id="R25382ba61d7947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1998454b7d4487" /><Relationship Type="http://schemas.openxmlformats.org/officeDocument/2006/relationships/notesSlide" Target="/ppt/notesSlides/notesSlide5.xml" Id="Rb7e3eaa716af41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2d78a3823a4a9a" /><Relationship Type="http://schemas.openxmlformats.org/officeDocument/2006/relationships/notesSlide" Target="/ppt/notesSlides/notesSlide6.xml" Id="R290e5860525345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5728ebd2274e3f" /><Relationship Type="http://schemas.openxmlformats.org/officeDocument/2006/relationships/image" Target="/ppt/media/image.png" Id="Ree838c11f69c4057" /><Relationship Type="http://schemas.openxmlformats.org/officeDocument/2006/relationships/notesSlide" Target="/ppt/notesSlides/notesSlide7.xml" Id="R9e064ccd10a142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3b1d484a1047ec" /><Relationship Type="http://schemas.openxmlformats.org/officeDocument/2006/relationships/notesSlide" Target="/ppt/notesSlides/notesSlide8.xml" Id="R66ef2337e8994c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314881f8fa4ae8" /><Relationship Type="http://schemas.openxmlformats.org/officeDocument/2006/relationships/notesSlide" Target="/ppt/notesSlides/notesSlide9.xml" Id="R4c0ced1c13924e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cda09151334b75" /><Relationship Type="http://schemas.openxmlformats.org/officeDocument/2006/relationships/notesSlide" Target="/ppt/notesSlides/notesSlide10.xml" Id="R1f926bab684744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677cdd94dd438c" /><Relationship Type="http://schemas.openxmlformats.org/officeDocument/2006/relationships/image" Target="/ppt/media/image2.png" Id="R842376f9fa3940ee" /><Relationship Type="http://schemas.openxmlformats.org/officeDocument/2006/relationships/notesSlide" Target="/ppt/notesSlides/notesSlide11.xml" Id="Rbc48c6ecd9874a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5abe9c3ecf4939" /><Relationship Type="http://schemas.openxmlformats.org/officeDocument/2006/relationships/notesSlide" Target="/ppt/notesSlides/notesSlide12.xml" Id="Rd7872323fd5043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b4fed1e6024542" /><Relationship Type="http://schemas.openxmlformats.org/officeDocument/2006/relationships/notesSlide" Target="/ppt/notesSlides/notesSlide13.xml" Id="R3d815448143944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53f50ab25442b9" /><Relationship Type="http://schemas.openxmlformats.org/officeDocument/2006/relationships/notesSlide" Target="/ppt/notesSlides/notesSlide14.xml" Id="R1570b9bc779340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85520ebffd4780" /><Relationship Type="http://schemas.openxmlformats.org/officeDocument/2006/relationships/notesSlide" Target="/ppt/notesSlides/notesSlide15.xml" Id="R890f3292a4c04e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611b04e8fd41e5" /><Relationship Type="http://schemas.openxmlformats.org/officeDocument/2006/relationships/notesSlide" Target="/ppt/notesSlides/notesSlide16.xml" Id="R0c42d673251b4b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8f41fe85d54788" /><Relationship Type="http://schemas.openxmlformats.org/officeDocument/2006/relationships/notesSlide" Target="/ppt/notesSlides/notesSlide17.xml" Id="Rf2d20fbb892147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8a26fe1a3946df" /><Relationship Type="http://schemas.openxmlformats.org/officeDocument/2006/relationships/notesSlide" Target="/ppt/notesSlides/notesSlide18.xml" Id="Rbf965cbf39a443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8aa0b349cb453d" /><Relationship Type="http://schemas.openxmlformats.org/officeDocument/2006/relationships/notesSlide" Target="/ppt/notesSlides/notesSlide19.xml" Id="R0f484f0a54f04b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4126ce771649fe" /><Relationship Type="http://schemas.openxmlformats.org/officeDocument/2006/relationships/notesSlide" Target="/ppt/notesSlides/notesSlide20.xml" Id="R27dd5a4229b248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7645D9D-2A99-4099-B3D2-B8D4E0A8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2F42812-1464-45CE-9588-502A2C67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-1828800"/>
            <a:ext cx="9144000" cy="914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2A9A5F-5982-46D4-A211-43C2BD6C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584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NVIDIA INCEPTION  |  DGX SPARK HACKATHON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009B06E-3DD3-4B73-9446-5389AF62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RareLink 稀联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6EFCB1-9CCB-44DA-8DF7-43B0BBCC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51760"/>
            <a:ext cx="94457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隐私保护的罕见病科研操作系统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3D6F227-AC16-4387-B4B9-FEFB9CA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3240"/>
            <a:ext cx="94457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Privacy-Preserving Research OS for Rare Diseases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7BF4E27-914C-4161-A0B0-4B058A7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657600"/>
            <a:ext cx="1828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10A506-FF3A-4312-B9B5-BC8BA49E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0480"/>
            <a:ext cx="944575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数据不动，知识流动  ·  Data Stays Local, Knowledge Flows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756585-84E0-4522-A89B-F4D23383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056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基于 NVIDIA DGX Spark + FLARE + MONAI + Opacus + Step 3.7 构建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56711C9-1BA1-46A1-A7E4-E4563E2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46320"/>
            <a:ext cx="121916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Built on NVIDIA DGX Spark + FLARE + MONAI + Opacus + Step 3.7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31013F-3F72-4419-84A4-88B81CBF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169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Team RareLink  |  contact@rarelink.ai  |  2026</a:t>
            </a:r>
          </a:p>
        </p:txBody>
      </p:sp>
    </p:spTree>
    <p:extLst>
      <p:ext uri="{BB962C8B-B14F-4D97-AF65-F5344CB8AC3E}">
        <p14:creationId xmlns:p14="http://schemas.microsoft.com/office/powerpoint/2010/main" val="73535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B0646F-1DA2-42D4-BA8D-AC626A8D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B17DD3C-8097-4D9D-8B8B-CD1D126C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46C49D-22E7-4857-88CF-7CEA7E23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996579-AD1B-4CC9-88CA-0CE548D2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罕见病研究的结构性矛盾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C799C27-E01E-4CE8-A589-1FC6986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The Structural Bottleneck in Rare Disease Research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879315-F7C8-4772-A1FD-6C059933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数据无法流动，但知识必须协作  |  Data can't move, yet knowledge must collaborate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0B37E8A-8AF2-4D6E-8BE3-9E22C59E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33284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7,000+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已知罕见病种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Known Rare Diseases</a:t>
            </a:r>
          </a:p>
          <a:p xmlns:a="http://schemas.openxmlformats.org/drawingml/2006/main">
            <a:pPr>
              <a:buNone/>
              <a:defRPr sz="15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仅5%有批准治疗方案  |  Only 5% have approved treatments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1C6C9C3-E283-42DF-9705-69B2F3B1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2011680"/>
            <a:ext cx="33284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&lt;50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单院平均样本量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Avg. Sample Size per Site</a:t>
            </a:r>
          </a:p>
          <a:p xmlns:a="http://schemas.openxmlformats.org/drawingml/2006/main">
            <a:pPr>
              <a:buNone/>
              <a:defRPr sz="15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统计功效严重不足  |  Severely underpowered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CFDD572-04F2-417C-8D33-26298B54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011680"/>
            <a:ext cx="33284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86%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临床医生愿共享数据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Clinicians Willing to Share</a:t>
            </a:r>
          </a:p>
          <a:p xmlns:a="http://schemas.openxmlformats.org/drawingml/2006/main">
            <a:pPr>
              <a:buNone/>
              <a:defRPr sz="15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但缺乏可信平台  |  But lack a trusted platform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B0ABEF-94C4-49AD-AC96-8AFB2245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合成数据 · Synthetic Data — based on published literature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93E59A-23AD-4E2C-8BF6-37136584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02 / 20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CC3B011-1F25-40AB-B566-90220562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777468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95BBB3-2867-43EA-9CC5-159ED90B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60C51E9-C29A-40B6-9F41-E7CA1921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402959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8BF954-E5C7-4061-85EF-996B506C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PRODUCT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BE7196-B63B-4719-809B-D7B96134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核心产品能力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DD8A02-2BCC-4C07-A7E9-6D41F631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Core Product Capabilities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6E9DDAB-992B-4460-98B7-38EBE8CA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四大模块构成完整的隐私保护科研闭环  |  Four modules forming a complete privacy-preserving loop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1069848" y="2149909"/>
          <a:ext xmlns:a="http://schemas.openxmlformats.org/drawingml/2006/main" cx="10058400" cy="3657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4572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功能模块 Module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核心能力 Key Capability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技术底座 Technology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联邦学习引擎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 Engine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多院协作训练；原始数据不出站点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NVIDIA FLARE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Opacus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分析团队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Team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五角色协作；本地优先 / 远程或模板回退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Step 3.7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TensorRT-LLM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 Agent 推理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Agent Inference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仅策略批准的聚合科研上下文进入私有端点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DGX Spark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TensorRT-LLM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证据驾驶舱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Cockpit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模型、延迟、GPU、输出哈希；红队与基准可核验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React + FastAPI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+ MONAI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998A20F-917B-48CB-AC77-DB3EE265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03 / 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323F6C-BDAB-40EB-A9B3-AC2415C2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396480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D21B70-AD9B-4FBD-B89B-C08A61E9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FB2014C-077C-4FF0-8251-975B215D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A24128-00F6-411A-A130-AB15789E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ARCHITECTURE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B07EF9-562D-4FDA-9B54-ACB259CF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四层系统架构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4F7C47-2538-4C15-91D5-70EA749E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Four-Layer System Architecture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96434C5-4E56-47CE-ABDD-48CB411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从数据到证据的完整流水线  |  A complete pipeline from data to evidence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5BD555-BFFD-4466-95DC-7C56E444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4C3B112-D701-45E5-841D-7D6FFA9F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20240"/>
            <a:ext cx="10673791" cy="8686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09728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L4  |  应用层 Application</a:t>
            </a:r>
          </a:p>
          <a:p xmlns:a="http://schemas.openxmlformats.org/drawingml/2006/main"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临床决策支持 · 科研报告 · 联盟治理 · 可视化看板</a:t>
            </a:r>
          </a:p>
        </p:txBody>
      </p:sp>
      <p:sp>
        <p:nvSpPr>
          <p:cNvPr id="10" name="Down Arrow 9">
            <a:extLst xmlns:a="http://schemas.openxmlformats.org/drawingml/2006/main">
              <a:ext uri="{FF2B5EF4-FFF2-40B4-BE49-F238E27FC236}">
                <a16:creationId xmlns:a16="http://schemas.microsoft.com/office/drawing/2014/main" id="{A8093AC7-00FC-46E2-8C12-7C7183E1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2798063"/>
            <a:ext cx="274320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AAD2D1-9D4E-46AF-8B1C-C386FEA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5351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39C1818-B0C4-4B27-8F8C-9DE744B1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953512"/>
            <a:ext cx="10673791" cy="8686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09728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L3  |  Agent层 Agent Layer</a:t>
            </a:r>
          </a:p>
          <a:p xmlns:a="http://schemas.openxmlformats.org/drawingml/2006/main"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Spark 本地优先 · Step / 模板回退 · MONAI / FLARE 编排</a:t>
            </a:r>
          </a:p>
        </p:txBody>
      </p:sp>
      <p:sp>
        <p:nvSpPr>
          <p:cNvPr id="13" name="Down Arrow 12">
            <a:extLst xmlns:a="http://schemas.openxmlformats.org/drawingml/2006/main">
              <a:ext uri="{FF2B5EF4-FFF2-40B4-BE49-F238E27FC236}">
                <a16:creationId xmlns:a16="http://schemas.microsoft.com/office/drawing/2014/main" id="{3757A744-2EE0-432E-B658-1A797536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3831335"/>
            <a:ext cx="274320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02ED59A-4C80-4A12-BD35-16946C80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86783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6C55D4E-22C8-44E0-90EB-F6160C76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86783"/>
            <a:ext cx="10673791" cy="8686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09728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L2  |  计算层 Compute</a:t>
            </a:r>
          </a:p>
          <a:p xmlns:a="http://schemas.openxmlformats.org/drawingml/2006/main"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DGX Spark · GB10 · 128GB UMA · CUDA · Opacus DP</a:t>
            </a:r>
          </a:p>
        </p:txBody>
      </p:sp>
      <p:sp>
        <p:nvSpPr>
          <p:cNvPr id="16" name="Down Arrow 15">
            <a:extLst xmlns:a="http://schemas.openxmlformats.org/drawingml/2006/main">
              <a:ext uri="{FF2B5EF4-FFF2-40B4-BE49-F238E27FC236}">
                <a16:creationId xmlns:a16="http://schemas.microsoft.com/office/drawing/2014/main" id="{4651AAC1-0DB9-498A-B99D-F725856D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4864607"/>
            <a:ext cx="274320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B39985A-86BF-4B20-833B-9483032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0056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20DBBF7-21B2-414E-8F13-C4FB2CC2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020056"/>
            <a:ext cx="10673791" cy="8686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09728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L1  |  数据层 Data Layer</a:t>
            </a:r>
          </a:p>
          <a:p xmlns:a="http://schemas.openxmlformats.org/drawingml/2006/main">
            <a:pPr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站点内 MRI / 标签 / 标识符；原始数据不进入 Agent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F159B45-78FA-4B84-975B-512939B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04 / 20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E59A88E-E2AB-46A8-AD9A-F3A3D64C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700924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730B4-DE9E-4BA5-830A-7CA82629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FB341D0F-9E22-4E6D-BD5F-C6300C8D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31B0270-A9B2-4B88-B22E-DF438376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AGENT TEAM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B7F91F7-7B00-4527-81A1-13DD859D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五名Agent组成自主科研团队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9D1C3D-A486-4812-AA08-D019656B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Five Agents Forming an Autonomous Research Team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E9F1A9-273D-4975-81A7-BD9DA4EA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明确能力边界，安全可控  |  Clear capability boundaries — safe and controllable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1069848" y="2011680"/>
          <a:ext xmlns:a="http://schemas.openxmlformats.org/drawingml/2006/main" cx="10058400" cy="3657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74320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职责 Role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核心能力 Key Capability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数据治理 Data Gov.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字段策略；原始数据与标识符留在站点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AnalysisAgent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统计分析 Statistics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联邦统计、最弱站点指标与 DP 边界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证据审阅 Evidence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只读聚合证据；输出临床越权门禁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报告撰写 Reports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结构化科研叙述；不得新增实验数字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Orchestrator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任务编排 Orchestration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→ Step / Template；人工审批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ADBC3C3-855A-4A30-B324-21C753FF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05 / 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A07E93A-5B87-4F56-ADAA-D780717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699168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874501-4AF2-4CBA-BEB1-43138DDE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CEB206F-0247-4D41-B00F-2AC2184C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0FEEF4-0EBE-4B9F-A3BC-60EBADFF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WHY NVIDIA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1108111-7CA2-4D88-859E-631A1610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NVIDIA技术栈核心指标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42CE43-B430-4B9B-A131-4DC8B195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NVIDIA Stack Key Metrics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56897B9-13CC-430A-A847-AEE4030D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从硬件到框架的完整技术栈  |  Complete stack from hardware to framework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CB137B1-4E6D-47CA-ACC0-C4B720D3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2468880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128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GB UMA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120B NVFP4 是本地工程目标；不宣称已完成 200B 实机运行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02BCE07-C6DF-4D12-B0C7-2382A77A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011680"/>
            <a:ext cx="2468880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ON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PREMISE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TensorRT-LLM 仅接收经策略批准的聚合科研上下文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E9E19E0-25B3-4949-ACAF-8615F3D2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11680"/>
            <a:ext cx="2468880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26/26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安全网关用例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输入脱敏 + 输出门控；本地实机红队需单独采证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4995499-4277-4834-B53A-3F92DBA1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011680"/>
            <a:ext cx="2468880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320040" rIns="27432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  <a:defRPr sz="5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HASH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元数据回执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3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只保存模型、延迟、GPU、用量与输出哈希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523D682-C222-462F-A7B9-1C12C0B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工程验证 · Engineering Verified — based on prototype system testing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A9898B-72B6-4E81-BD54-3EAC8478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06 / 20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4026BCF-0524-4C5F-826E-B8D5AAD7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331888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B1D94E-F4BE-42BF-A394-88E670FE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A5DDF2A-569D-4C84-8D23-F1B0530E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2F721E-8E19-42B3-91CD-878A1082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EVIDENCE LOOP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547EC67-4386-4FD2-8227-14013739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证据闭环验证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8A2692-D60D-450C-BA2B-28EE8EE1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Closed-Loop Evidence Validation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5FE98F8-6F41-48DB-921C-27A71AFE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三要素：证据驾驶舱 + 实验报告 + review_demo.sh  |  Three elements: cockpit + reports + script</a:t>
            </a:r>
          </a:p>
        </p:txBody>
      </p:sp>
      <p:graphicFrame>
        <p:nvGraphicFramePr>
          <p:cNvPr id="29" name="Table 7"/>
          <p:cNvGraphicFramePr/>
          <p:nvPr/>
        </p:nvGraphicFramePr>
        <p:xfrm>
          <a:off xmlns:a="http://schemas.openxmlformats.org/drawingml/2006/main" x="731520" y="2303014"/>
          <a:ext xmlns:a="http://schemas.openxmlformats.org/drawingml/2006/main" cx="5943600" cy="3058668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74320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阶段 Stage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输入→输出 I/O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验证 Verify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策略门控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Policy Gate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原始字段 → 批准聚合上下文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字段阻断 / 小样本抑制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本地服务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Service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结构化 JSON → 元数据回执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模型 / 延迟 / GPU / 哈希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安全红队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Safety Red Team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26 条固定用例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12 输入 + 14 输出门控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并发轮廓</a:t>
                      </a:r>
                    </a:p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Concurrency Profile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 / 2 / 4 固定安全请求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吞吐 / 延迟 / GPU；可选实机采集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A5541E7-E5CB-4454-9E2E-8C4D4B2D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0" y="-17145000"/>
            <a:ext cx="9525" cy="478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证据驾驶舱 Evidence Cockpit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922D721-6098-497F-A068-BA9003AD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0" y="-17145000"/>
            <a:ext cx="9525" cy="95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训练状态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✓ 完成</a:t>
            </a:r>
          </a:p>
          <a:p xmlns:a="http://schemas.openxmlformats.org/drawingml/2006/main"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Training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6B30325-5B03-4CB5-969C-9567DAC9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0" y="-17145000"/>
            <a:ext cx="9525" cy="95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联邦结果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3/3</a:t>
            </a:r>
          </a:p>
          <a:p xmlns:a="http://schemas.openxmlformats.org/drawingml/2006/main"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Aggregated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70CCC9C-4FAE-4722-97EF-582B650C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0" y="-17145000"/>
            <a:ext cx="9525" cy="95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真实数据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t>24例</a:t>
            </a:r>
          </a:p>
          <a:p xmlns:a="http://schemas.openxmlformats.org/drawingml/2006/main"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MSD cases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250D26F-B47D-4D22-9063-97A861E1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0" y="-17145000"/>
            <a:ext cx="9525" cy="95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端到端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69.0s</a:t>
            </a:r>
          </a:p>
          <a:p xmlns:a="http://schemas.openxmlformats.org/drawingml/2006/main">
            <a:pPr>
              <a:buNone/>
              <a:defRPr sz="11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FedAvg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B1F7F5F-A8A5-4F05-9478-E818C932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0" y="-17145000"/>
            <a:ext cx="9525" cy="95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54864" anchor="ctr"/>
          <a:lstStyle xmlns:a="http://schemas.openxmlformats.org/drawingml/2006/main"/>
          <a:p xmlns:a="http://schemas.openxmlformats.org/drawingml/2006/main">
            <a:pPr algn="ctr"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真实 MSD：24 cases · 3 sites · 3/3 aggregated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7C7FB34-186B-4D4E-86A4-9DE1D9BB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0" y="-17145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915373D-1041-4AD4-801C-0A7D9F93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0" y="-17145000"/>
            <a:ext cx="9525" cy="243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review_demo.sh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1F950B-31F4-4013-8B02-40469404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0" y="-17145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91440" rIns="137160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200">
                <a:solidFill>
                  <a:srgbClr val="E0E0E0"/>
                </a:solidFill>
                <a:latin typeface="Courier New"/>
                <a:ea typeface="Courier New"/>
                <a:cs typeface="Courier New"/>
              </a:defRPr>
            </a:pPr>
            <a:r>
              <a:t>真实 MSD：24例、3站点、3/3聚合。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只提交聚合指标，不含原始影像或权重。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一轮工程验证，不是临床结论。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0AA115F-C411-460C-BBFF-FB933686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24例公开影像 · 单Spark逻辑站点 · 非临床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1A69D05-E1DA-4DFC-B51C-D582DEF3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07 / 20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9577D9C-82AC-4CBA-979A-5C46E32F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38c11f69c4057"/>
          <a:srcRect xmlns:a="http://schemas.openxmlformats.org/drawingml/2006/main" l="0" t="6364" r="0" b="6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2143125"/>
            <a:ext cx="419100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</p:spTree>
    <p:extLst>
      <p:ext uri="{BB962C8B-B14F-4D97-AF65-F5344CB8AC3E}">
        <p14:creationId xmlns:p14="http://schemas.microsoft.com/office/powerpoint/2010/main" val="77384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E8F7A0-83DC-496B-BE0E-B785AA4D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92C1FD9D-43B4-4C62-BD0F-E6864D1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E7D1A08-08B8-477F-9883-C093687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EVIDENCE READINESS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AAC58BF-16CA-46D5-9BAD-F34F6EAA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工程证据就绪度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314F89-33DF-4510-8343-1CFC4F0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Engineering Evidence Readiness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C8C739-032D-451F-810B-9741E900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已核验合成稳定性 + 真实 MSD；本地 LLM 回执仍须实机采集  |  Verified + live gate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EF211DA-77B2-423F-80BA-313A5DF6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32004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多种子实验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Multi-seed trials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3CF393B-81B0-48A1-B2C6-3C7133BF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313432"/>
            <a:ext cx="54864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05328AE-EF25-4C3B-B2FC-3CFC5464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860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0F7057B-59F4-47EB-B801-5D49088E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32004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样本级 DP-SGD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Sample-level DP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D259654-0B25-4CCC-9A40-4567F5B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044952"/>
            <a:ext cx="46634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706B845-BB59-4EE5-BC5D-C47796D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1752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ε 6.077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ED044D1-BA54-430F-8911-17FA85D1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39"/>
            <a:ext cx="32004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跨设备 mTLS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Cross-device mTLS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20BD5F8-A240-4AD3-88D8-CC464381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776471"/>
            <a:ext cx="219456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F91E5A-5402-4FF0-BA8A-2AD8AC07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749039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85F625E-F222-4336-A4B0-7EC6A032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32004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本地 LLM 实机证据</a:t>
            </a:r>
          </a:p>
          <a:p xmlns:a="http://schemas.openxmlformats.org/drawingml/2006/main">
            <a:pPr algn="l">
              <a:buNone/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Local LLM live evidence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18CAC0-4A90-4C95-AF4C-8F217556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507992"/>
            <a:ext cx="5047488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AFD9630-1EE5-4B24-8C47-8D6B2DF6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48056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PENDING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7B8BD80-0756-4310-A012-E30C09D7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已核验：25 次稳定性、DP-SGD、mTLS、Agent 26/26、MSD 24例 / 3站点 / 3/3聚合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7176D66-66DF-4F17-AA0C-893F1A95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本地 LLM 仅在真实 Spark 回执、GPU 快照与本地红队齐备后标为 VERIFIED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5D57FD7-19FB-43A5-8C2D-8C93FE66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08 / 20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A4A839-5C92-43C8-8832-4154CC1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44775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7CE6AB3-D719-45EF-AE44-1AA93FB5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788168E6-E787-4C2A-BB0D-B599C475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E7517A-6CE0-44B5-8505-EB2E91E3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DATA SOURCES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1493B1-B732-41D8-8815-087F82E2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多模态数据治理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4324E3-A606-4CFF-AE80-664D6C1A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Multi-Modal Data Governance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16A187-1BCC-4A66-9F67-1513C87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公开数据可追溯、受治理，真实影像仅作工程验证  |  Governed public data, engineering only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86B69B6-6BB8-40CC-896E-C7D18EAE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电子病历 EHR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诊断、用药、随访记录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1549FBF-5710-4163-84DA-A519C941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基因组 Genomic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全外显子测序、Panel检测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557AA23-D926-47F4-8C31-EC7C5AD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MSD Task01 MRI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24例 · 四模态 · 工程验证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AE47148-72AE-44CB-8F5F-7EA5F723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检验指标 Lab Results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实验室检测与生物标志物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0F457E9-64B1-4EEE-B3D9-101291DE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011680"/>
            <a:ext cx="1956816" cy="3200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32004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患者报告 Patient PRO</a:t>
            </a:r>
          </a:p>
          <a:p xmlns:a="http://schemas.openxmlformats.org/drawingml/2006/main">
            <a:pPr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PRO量表与生活质量评估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4293505-E891-4E2D-9243-770F63E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原始影像不入仓库、不传模型 API；结果仅作工程证据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49BA6B-4705-4A64-BEF7-06CE8B3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09 / 20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6860050-63A4-420B-87F3-6CE550F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850281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E03787-E089-4C50-8FAB-E52648E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7C371274-4B3F-4ED4-8B68-63830F4F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E05303-48B3-42B2-87F7-63762B7A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PRIVACY &amp; SECURITY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80DDC8-7481-4067-882F-07DFC9E7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多层隐私保护体系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00B0C4E-ECD4-47E0-B9E2-744F515D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Multi-Layer Privacy Protection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9F95D07-C660-4915-85A4-3E181D5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从数学保证到工程实现的全面防护  |  From math guarantees to engineering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11FD9B6-C779-4746-80FB-CB72F2C8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5184648" cy="16916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差分隐私 Differential Privacy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ε-DP数学保证，Opacus实现噪声注入</a:t>
            </a:r>
          </a:p>
          <a:p xmlns:a="http://schemas.openxmlformats.org/drawingml/2006/main"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Opacus ε=8.0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91245D-2740-4109-98FC-CF13D0F4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920240"/>
            <a:ext cx="5184648" cy="16916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安全聚合 Secure Aggregation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加密参数交换，中间结果不可观测</a:t>
            </a:r>
          </a:p>
          <a:p xmlns:a="http://schemas.openxmlformats.org/drawingml/2006/main"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FLARE SecAgg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C24DFDD-88B9-42AF-9FAA-D8E7603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5184648" cy="16916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本地化部署 On-Premise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全栈运行于院内，零数据外传</a:t>
            </a:r>
          </a:p>
          <a:p xmlns:a="http://schemas.openxmlformats.org/drawingml/2006/main"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DGX Spark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B451E83-6B5D-4318-86EF-7D37EAB2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840480"/>
            <a:ext cx="5184648" cy="16916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28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访问控制 Access Control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基于角色权限，全链路审计</a:t>
            </a:r>
          </a:p>
          <a:p xmlns:a="http://schemas.openxmlformats.org/drawingml/2006/main">
            <a:pPr>
              <a:buNone/>
              <a:defRPr sz="13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RBAC + Audit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4103E5-AEA8-4222-8796-AC8B0C34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08 / 20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57D1DA-8C39-4A9B-BDCC-31D7AB41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9629872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1E6AEF-6AA5-4B47-B171-42CF2439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8C4F4CB3-E0C9-47A4-BEEF-902B88A4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B68E7DA-2157-489A-B79A-AC05ABC9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OPENCLAW WORKSHOP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27521E5-9F9B-4540-93F7-866025E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参考代码基础完赛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B113E28-55E5-4DA3-BF73-8B89A031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Reference Workshop Completion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8179C9-E760-4ED7-B4EF-229CBBE9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DGX Spark 本地多模态 Agent 完赛证据 · 独立于 RareLink 医学科研工作流</a:t>
            </a:r>
          </a:p>
        </p:txBody>
      </p:sp>
      <p:graphicFrame>
        <p:nvGraphicFramePr>
          <p:cNvPr id="20" name="Table 7"/>
          <p:cNvGraphicFramePr/>
          <p:nvPr/>
        </p:nvGraphicFramePr>
        <p:xfrm>
          <a:off xmlns:a="http://schemas.openxmlformats.org/drawingml/2006/main" x="-17145000" y="-1714500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286000"/>
                <a:gridCol w="29260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类别 Category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方法 Method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结果 Result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状态 Status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样本级 DP-SGD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RDP 会计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ε=6.076881, δ=1e-5；仅覆盖训练步骤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跨设备 mTLS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两设备负面对照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错误身份被拒绝；运行令牌不导出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安全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26 条固定用例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输入脱敏 + 输出临床越权门禁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 LLM 回执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元数据最小化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模型 / 延迟 / GPU / 哈希；不存内容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PENDING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公开 MSD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24例 / 3站点 / FedAvg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3/3 聚合、全局模型；非临床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✓ PASS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DE6741-A4C7-4162-92EC-F60DFA6C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不含自拍、原图、提示词、权重、Token、网络地址或凭据；与 RareLink 医学科研工作流独立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5F12341-32B8-45CB-B898-945512C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11 / 20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48C7D4A-5885-45DB-B868-2887145C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376f9fa3940ee"/>
          <a:stretch xmlns:a="http://schemas.openxmlformats.org/drawingml/2006/main"/>
        </p:blipFill>
        <p:spPr>
          <a:xfrm xmlns:a="http://schemas.openxmlformats.org/drawingml/2006/main">
            <a:off x="3337560" y="2133600"/>
            <a:ext cx="5516880" cy="3448050"/>
          </a:xfrm>
          <a:prstGeom xmlns:a="http://schemas.openxmlformats.org/drawingml/2006/main" prst="roundRect">
            <a:avLst>
              <a:gd name="adj" fmla="val 3315"/>
            </a:avLst>
          </a:prstGeom>
        </p:spPr>
      </p:pic>
    </p:spTree>
    <p:extLst>
      <p:ext uri="{BB962C8B-B14F-4D97-AF65-F5344CB8AC3E}">
        <p14:creationId xmlns:p14="http://schemas.microsoft.com/office/powerpoint/2010/main" val="6992857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DFB85C-2EB1-4F60-B9B6-64F1D1B0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9872136-D4E2-4BAA-8A0D-9A63CAC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94C83B-6CEB-4C5E-81D5-FA75CC23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TECHNOLOGY STACK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B12BEF7-C305-494A-8E59-3709805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技术栈详解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35CA6E-FBFF-49C6-9B7F-AB550DCC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Technology Stack Details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1D4A45-9F7D-4648-B8B3-4A19E96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全栈组件清单与NVIDIA集成度  |  Full-stack component inventory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1069848" y="1920240"/>
          <a:ext xmlns:a="http://schemas.openxmlformats.org/drawingml/2006/main" cx="10058400" cy="4140052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371600"/>
                <a:gridCol w="34747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组件 Component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版本 Version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角色 Role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NVIDIA集成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DGX Spark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GB10 · 128GB UMA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本地训练 / 可选本地推理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CUDA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NVIDIA FLARE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2.7.2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联邦编排与 mTLS 演练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NVIDIA FLARE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MONAI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1.6.0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3D SegResNet 影像训练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PyTorch CUDA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Opacus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DP-SGD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样本级会计 / RDP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PyTorch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TensorRT-LLM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Docker service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私有本地 Agent 端点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NVIDIA TensorRT-LLM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 3.7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仅脱敏聚合上下文的回退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StepFun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React + FastAPI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TypeScript / Python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证据驾驶舱与审计接口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容器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7DB474-2581-4D75-84A7-F8B48645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12 / 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CBC27C1-03B0-4A3F-93FD-266F59F3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7757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68A4F1-1D0E-4922-8A0C-9DE27B7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2A66E1D-000A-4775-9EA2-011550DA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1270AB-EE26-48E2-8290-E019EFEC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FEDERATED PROTOCOL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CC7378-3BDC-4858-9D69-6BE3729D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联邦学习协议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EC5F1A-0BDD-40E9-9130-4EDB2B04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Federated Learning Protocol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04B1BE4-795C-4D93-8319-B8281D24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FLARE训练协议五阶段  |  Five-phase FLARE training protocol</a:t>
            </a:r>
          </a:p>
        </p:txBody>
      </p:sp>
      <p:graphicFrame>
        <p:nvGraphicFramePr>
          <p:cNvPr id="19" name="Table 7"/>
          <p:cNvGraphicFramePr/>
          <p:nvPr/>
        </p:nvGraphicFramePr>
        <p:xfrm>
          <a:off xmlns:a="http://schemas.openxmlformats.org/drawingml/2006/main" x="1069848" y="1920240"/>
          <a:ext xmlns:a="http://schemas.openxmlformats.org/drawingml/2006/main" cx="10058400" cy="3657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560320"/>
                <a:gridCol w="24688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阶段 Phase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描述 Description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参数 Parameters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安全 Security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本地训练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Local Training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各站点本地训练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epochs=5, lr=0.001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数据不出院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梯度裁剪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Grad Clipping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限制梯度范数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max_norm=1.0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防梯度泄露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DP噪声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DP Noise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Opacus添加噪声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ε=8.0, δ=1e-5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差分隐私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安全聚合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SecAgg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加密参数交换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secagg=true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不可观测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全局更新</a:t>
                      </a:r>
                      <a:br/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Global Update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FedAvg聚合更新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aggregator=avg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跨站一致性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805E78-DAE3-420F-9254-F68843E7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工程验证 · Engineering Verified — prototype FLARE testing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28F64D8-7031-4E52-8274-3A46BA26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13 / 20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8A49BE1-B889-4EA3-909C-ECCFA4AD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436603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8F126D-13A0-4D42-A2B4-53EBD345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477879D-8F9D-4DC9-B4AA-74909D67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D6B008-3D5D-4ADD-A020-57FC7817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MONAI PIPELINE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DA4BEA-AA8D-4906-8AEE-B58DA6D3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MONAI 流水线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C0E173-AC19-4097-B14D-6423B22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MONAI Processing Pipeline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A70ACF-D39F-46DC-B156-F78F8D09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四阶段医学影像处理流程  |  Four-stage medical imaging pipeline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8C1625F-E564-4737-87A5-974077E6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4624"/>
            <a:ext cx="54864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00D8810-E6F2-4EC1-B18F-3BF707DE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64624"/>
            <a:ext cx="2231136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22860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预处理</a:t>
            </a:r>
            <a:br/>
            <a:r>
              <a:t>Preprocessing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NormalizeIntensity</a:t>
            </a:r>
            <a:br/>
            <a:r>
              <a:t>Resample</a:t>
            </a:r>
            <a:br/>
            <a:r>
              <a:t>Spacing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MONAI Transforms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A39257CF-C279-4B80-B47F-BAD57B93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99064"/>
            <a:ext cx="27432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01A9178-6A51-41AF-B5F2-C681D1ED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4624"/>
            <a:ext cx="54864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9C3D27B-3BAB-4121-BEB2-69BB5FEA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2464624"/>
            <a:ext cx="2231136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22860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数据增强</a:t>
            </a:r>
            <a:br/>
            <a:r>
              <a:t>Augmentation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Rand3DElastic</a:t>
            </a:r>
            <a:br/>
            <a:r>
              <a:t>RandShiftIntensity</a:t>
            </a:r>
            <a:br/>
            <a:r>
              <a:t>RandFlip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3D Augmentation</a:t>
            </a:r>
          </a:p>
        </p:txBody>
      </p:sp>
      <p:sp>
        <p:nvSpPr>
          <p:cNvPr id="13" name="Right Arrow 12">
            <a:extLst xmlns:a="http://schemas.openxmlformats.org/drawingml/2006/main">
              <a:ext uri="{FF2B5EF4-FFF2-40B4-BE49-F238E27FC236}">
                <a16:creationId xmlns:a16="http://schemas.microsoft.com/office/drawing/2014/main" id="{7E6B9559-56C9-4F6D-B902-A6C7CC47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699064"/>
            <a:ext cx="27432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A8F41CD-78A0-4805-AE6D-2D3AD752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64624"/>
            <a:ext cx="54864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876E768-67C7-47DE-B03E-246EB066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464624"/>
            <a:ext cx="2231136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22860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模型训练</a:t>
            </a:r>
            <a:br/>
            <a:r>
              <a:t>Model Training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UNet / ResNet</a:t>
            </a:r>
            <a:br/>
            <a:r>
              <a:t>DiceLoss</a:t>
            </a:r>
            <a:br/>
            <a:r>
              <a:t>Adam Optimizer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MONAI Networks</a:t>
            </a:r>
          </a:p>
        </p:txBody>
      </p:sp>
      <p:sp>
        <p:nvSpPr>
          <p:cNvPr id="16" name="Right Arrow 15">
            <a:extLst xmlns:a="http://schemas.openxmlformats.org/drawingml/2006/main">
              <a:ext uri="{FF2B5EF4-FFF2-40B4-BE49-F238E27FC236}">
                <a16:creationId xmlns:a16="http://schemas.microsoft.com/office/drawing/2014/main" id="{48507D94-BD2E-41B3-9DD5-4BF585B4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99064"/>
            <a:ext cx="27432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8F61566-7B41-4517-AE98-B660357A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64624"/>
            <a:ext cx="54864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A4A5838-9C43-4221-923C-9E4B6047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464624"/>
            <a:ext cx="2231136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228600" anchor="ctr"/>
          <a:lstStyle xmlns:a="http://schemas.openxmlformats.org/drawingml/2006/main"/>
          <a:p xmlns:a="http://schemas.openxmlformats.org/drawingml/2006/main">
            <a:pPr algn="ctr">
              <a:spcAft>
                <a:spcPts val="1000"/>
              </a:spcAft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推理验证</a:t>
            </a:r>
            <a:br/>
            <a:r>
              <a:t>Inference</a:t>
            </a:r>
          </a:p>
          <a:p xmlns:a="http://schemas.openxmlformats.org/drawingml/2006/main">
            <a:pPr>
              <a:spcAft>
                <a:spcPts val="1000"/>
              </a:spcAft>
              <a:buNone/>
              <a:defRPr sz="1700">
                <a:solidFill>
                  <a:srgbClr val="FFFFFF"/>
                </a:solidFill>
              </a:defRPr>
            </a:pPr>
            <a:r>
              <a:t>SlidingWindowInferior</a:t>
            </a:r>
            <a:br/>
            <a:r>
              <a:t>Validation Metrics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MONAI Infer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261AB4-8F96-49DB-AC84-81395E75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14 / 20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DD2138C-47FA-4384-8ED2-63CC5E59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6903207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B03A4A-EC3C-4553-9ED7-0FA067A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A81E700-239B-49A0-9205-42DF9D7F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325CB7-5A0E-4027-A0B5-C882B017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AGENT ARCHITECTURE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2C26E36-5C46-4931-BD70-1C73EC7A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Agent 架构详解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24A7676-9021-4208-A6B8-02DD9E54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Agent Architecture Details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1D7791-AF91-4023-BA17-F9772F6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五个Agent的LLM骨干、工具与安全护栏  |  LLM backbones, tools, and guardrails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1069848" y="1920240"/>
          <a:ext xmlns:a="http://schemas.openxmlformats.org/drawingml/2006/main" cx="10058400" cy="36576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2860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LLM骨干 Backbone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工具 Tools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76B900"/>
                          </a:solidFill>
                          <a:latin typeface="Arial"/>
                          <a:ea typeface="Arial"/>
                          <a:cs typeface="Arial"/>
                        </a:rPr>
                        <a:t>安全护栏 Guardrails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确定性模板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字段策略 / 清单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标识符、路径、影像字段阻断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AnalysisAgent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/ Step 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聚合统计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只允许批准聚合上下文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EvidenceAgent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/ Step 回退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证据审阅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输出临床越权门禁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ReportAgent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Spark Local / Step 回退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结构化报告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不得新增数字；人工审批</a:t>
                      </a:r>
                    </a:p>
                  </a:txBody>
                  <a:tcPr marL="164592" marR="109728" marT="54864" marB="54864" anchor="ctr">
                    <a:solidFill>
                      <a:srgbClr val="1E1E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Orchestrator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Hybrid routing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就绪探测 / 回执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rgbClr val="A1A1AA"/>
                          </a:solidFill>
                          <a:latin typeface="Arial"/>
                          <a:ea typeface="Arial"/>
                          <a:cs typeface="Arial"/>
                        </a:rPr>
                        <a:t>安全阻断失败闭合；不外发原始数据</a:t>
                      </a:r>
                    </a:p>
                  </a:txBody>
                  <a:tcPr marL="164592" marR="109728" marT="54864" marB="54864" anchor="ctr">
                    <a:solidFill>
                      <a:srgbClr val="1616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E4C6427-7B1F-4947-B491-4AAA722F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15 / 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6105A8-CE4E-4BB5-AA4A-BE91BA3F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14988415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1D8951-8429-41FD-81F2-3C63F232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96AB8A3D-449C-4387-BE03-23ABE266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CDDF1E-15C7-4930-AF3F-A847EC11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DEPLOYMENT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60CF80-EB31-4F28-AC44-24C70D6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部署与本地推理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45545F-BFF9-4CF8-8DE3-CBBBC4D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Deployment &amp; Local Inference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E670E75-E84C-4C6D-8DC4-EFEAA727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三层部署：全栈容器、私有本地 LLM 与 Spark 本地算力  |  Three-layer deployment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6623A84-75CE-473B-9944-F5124ED0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5486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5C08734-4C6D-4AB9-AFD8-13AFD85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11680"/>
            <a:ext cx="10673791" cy="10972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容器层 Container Layer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Docker Compose · FastAPI / React / FLARE · 可复现环境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Compose + CUDA runtime</a:t>
            </a:r>
          </a:p>
        </p:txBody>
      </p:sp>
      <p:sp>
        <p:nvSpPr>
          <p:cNvPr id="10" name="Down Arrow 9">
            <a:extLst xmlns:a="http://schemas.openxmlformats.org/drawingml/2006/main">
              <a:ext uri="{FF2B5EF4-FFF2-40B4-BE49-F238E27FC236}">
                <a16:creationId xmlns:a16="http://schemas.microsoft.com/office/drawing/2014/main" id="{7B75AFFB-C74D-4C92-A6CE-F9A59BEB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3136392"/>
            <a:ext cx="274320" cy="16459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71C9384-1E70-472E-973A-A9E835A0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37560"/>
            <a:ext cx="5486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62492B9-AAC0-417C-B333-C9B59574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337560"/>
            <a:ext cx="10673791" cy="10972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本地 LLM 层 Local LLM Layer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TensorRT-LLM · 仅绑定 127.0.0.1:8355 · 不暴露公网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OpenAI-compatible private endpoint</a:t>
            </a:r>
          </a:p>
        </p:txBody>
      </p:sp>
      <p:sp>
        <p:nvSpPr>
          <p:cNvPr id="13" name="Down Arrow 12">
            <a:extLst xmlns:a="http://schemas.openxmlformats.org/drawingml/2006/main">
              <a:ext uri="{FF2B5EF4-FFF2-40B4-BE49-F238E27FC236}">
                <a16:creationId xmlns:a16="http://schemas.microsoft.com/office/drawing/2014/main" id="{89B5B55C-37D6-4A86-BB56-12742919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87" y="4462272"/>
            <a:ext cx="274320" cy="16459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A76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5E846BE-B3C4-4DC0-993B-8B91C262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54864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492C65A-0DE1-48A5-8722-A4C7D065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663440"/>
            <a:ext cx="10673791" cy="10972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0040" t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本地算力层 Spark Layer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模型由 Spark 直连下载；训练、推理与回执均在本地执行</a:t>
            </a:r>
          </a:p>
          <a:p xmlns:a="http://schemas.openxmlformats.org/drawingml/2006/main">
            <a:pPr>
              <a:buNone/>
              <a:defRPr sz="13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  <a:r>
              <a:t>DGX Spark + Intranet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2D178B8-9CE1-4F23-9D53-CEA75A90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16 / 20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C6FDFF8-C98E-41D0-A1F9-C049125A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15533150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77F827-76CA-46CC-A685-3EF6A2CD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13A30F0-87F3-4AC3-8612-BBB3C1F2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3410591-FFFA-4B9A-BA87-43878032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REPRODUCTION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9C26FF-16FD-4EAE-B9B6-12417720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复现指南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1A3E7BC-8B1E-41F1-BFFC-C6FF45BD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Reproduction Guide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1B134C-5BB7-40F8-AF87-B61CCCC9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一键核验 + MSD 摘要；本地 LLM 独立采证  |  Review + MSD receipt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DCF1EAC-12FC-4580-9A54-9CC7544C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D01C09-C036-44DA-9F67-A1EC2333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38528"/>
            <a:ext cx="5212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review_demo.sh</a:t>
            </a:r>
            <a:r>
              <a:t> — terminal output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730F359-5624-41B7-81F3-F6DFE40F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548640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91440" rIns="137160" bIns="91440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200">
                <a:solidFill>
                  <a:srgbClr val="E0E0E0"/>
                </a:solidFill>
                <a:latin typeface="Courier New"/>
                <a:ea typeface="Courier New"/>
                <a:cs typeface="Courier New"/>
              </a:defRPr>
            </a:pPr>
            <a:r>
              <a:t>$ git clone https://</a:t>
            </a:r>
            <a:r>
              <a:t>github.com</a:t>
            </a:r>
            <a:r>
              <a:t>/</a:t>
            </a:r>
            <a:r>
              <a:t>dingyucanada</a:t>
            </a:r>
            <a:r>
              <a:t>/</a:t>
            </a:r>
            <a:r>
              <a:t>RareLink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E0E0E0"/>
                </a:solidFill>
                <a:latin typeface="Courier New"/>
                <a:ea typeface="Courier New"/>
                <a:cs typeface="Courier New"/>
              </a:defRPr>
            </a:pPr>
            <a:r>
              <a:t>$ cd </a:t>
            </a:r>
            <a:r>
              <a:t>RareLink</a:t>
            </a:r>
            <a:r>
              <a:t> &amp;&amp; bash scripts/</a:t>
            </a:r>
            <a:r>
              <a:t>review_demo.sh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6B6B70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[✓] 25 </a:t>
            </a:r>
            <a:r>
              <a:t>项五种子实验</a:t>
            </a:r>
            <a:r>
              <a:t> / DP-SGD / </a:t>
            </a:r>
            <a:r>
              <a:t>两设备</a:t>
            </a:r>
            <a:r>
              <a:t> </a:t>
            </a:r>
            <a:r>
              <a:t>mTLS</a:t>
            </a:r>
            <a:r>
              <a:t> / Agent </a:t>
            </a:r>
            <a:r>
              <a:t>红队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[•] Spark </a:t>
            </a:r>
            <a:r>
              <a:t>本地</a:t>
            </a:r>
            <a:r>
              <a:t> </a:t>
            </a:r>
            <a:r>
              <a:t>LLM：未有真实回执时显示</a:t>
            </a:r>
            <a:r>
              <a:t> NOT CLAIMED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# </a:t>
            </a:r>
            <a:r>
              <a:t>本地</a:t>
            </a:r>
            <a:r>
              <a:t> Spark </a:t>
            </a:r>
            <a:r>
              <a:t>已采集回执后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$ make spark-local-verify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200">
                <a:solidFill>
                  <a:srgbClr val="4AE86F"/>
                </a:solidFill>
                <a:latin typeface="Courier New"/>
                <a:ea typeface="Courier New"/>
                <a:cs typeface="Courier New"/>
              </a:defRPr>
            </a:pPr>
            <a:r>
              <a:t>$ make spark-local-benchmark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F8158A-FAED-4E87-81AB-F6A0CF9F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74519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验证步骤 Verification Steps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4D04701-DCA1-48D0-90D1-C454BCF2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86000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1. 克隆仓库 Clone repo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git clone dingyucanada/RareLink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179C8D9-B4B0-4960-928B-6CE5406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44368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2. 安装依赖 Install deps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pip install -e ".[dev]"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D42284D-186D-44DF-8A6B-5F3CBF93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02736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3. 启动 Docker Start Docker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docker compose -f deploy/compose.spark.yml up -d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4969960-4EDF-4AAA-ACA2-780D4FC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61104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4. 必过核验 Required check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bash scripts/review_demo.sh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D7DF2CC-0A0B-4DCF-97E1-8A2F6457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19472"/>
            <a:ext cx="4572000" cy="566928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2880" tIns="73152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  <a:defRPr sz="1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5. 可选本地 LLM</a:t>
            </a:r>
          </a:p>
          <a:p xmlns:a="http://schemas.openxmlformats.org/drawingml/2006/main">
            <a:pPr>
              <a:buNone/>
              <a:defRPr sz="1100">
                <a:solidFill>
                  <a:srgbClr val="76B900"/>
                </a:solidFill>
                <a:latin typeface="Courier New"/>
                <a:ea typeface="Courier New"/>
                <a:cs typeface="Courier New"/>
              </a:defRPr>
            </a:pPr>
            <a:r>
              <a:t>capture → redteam → verify → benchmark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579AD1B-96C0-435D-BA7A-87E0D088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复现包不下载模型或影像；本地 LLM 回执不会被 seed 或伪造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BD21C31-C121-4C1F-BC3E-05F3273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17 / 20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F11CF07-AFA1-4FB8-93CD-6CFBEEA2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17417714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184292-03E9-4A55-8955-A6CEEC9C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E6EEE05-E370-48BB-82FC-83FCCA0B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998837D-9FC1-472F-94BD-474856ED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ROADMAP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7BE553D-A9AE-497F-9AC1-5DFAAC2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五阶段产品化路线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64F601-907A-4614-9661-66F2F9E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Five-Phase Product Roadmap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7C27E2-7870-48FD-A056-DAD2AD64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从原型到全国推广的递进路径  |  From prototype to nationwide rollout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F74BFA26-EDAB-4657-87B8-77DF774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4A76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1CABA29-5608-49BE-B348-4A40FA85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9D08F2C-852C-4BC7-8BB0-508FC8E1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July 2026 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黑客松原型</a:t>
            </a:r>
            <a:br/>
            <a:r>
              <a:t>Hackathon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核心架构验证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BF964DD0-7003-4FA6-8D2E-BB9BF023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B7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9DCC12F-6633-4FF6-860B-62DF22D7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July 2026 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开源发布</a:t>
            </a:r>
            <a:br/>
            <a:r>
              <a:t>Open Source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GitHub上线 + 试点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8354DFDC-8DEA-4A5C-8428-D8FEC25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B7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99B0152-0915-4A71-A424-74BEE912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2026 下半年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联邦联盟</a:t>
            </a:r>
            <a:br/>
            <a:r>
              <a:t>Consortium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Agent v2 + 联盟组建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6EA389CB-3CD8-45C5-A966-5DF3856C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B7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418DB24-6320-4CF3-B796-E698D07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2026年底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企业MVP</a:t>
            </a:r>
            <a:br/>
            <a:r>
              <a:t>Enterprise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企业版 + 首个合同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7A70B846-41A9-4316-91FB-06486305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235404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6B7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505D27E-A749-413B-AE7A-43D1828B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719806"/>
            <a:ext cx="1956816" cy="25603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37160" tIns="182880" rIns="137160" anchor="ctr"/>
          <a:lstStyle xmlns:a="http://schemas.openxmlformats.org/drawingml/2006/main"/>
          <a:p xmlns:a="http://schemas.openxmlformats.org/drawingml/2006/main">
            <a:pPr algn="ctr">
              <a:spcAft>
                <a:spcPts val="400"/>
              </a:spcAft>
              <a:buNone/>
              <a:defRPr sz="14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2027年</a:t>
            </a:r>
          </a:p>
          <a:p xmlns:a="http://schemas.openxmlformats.org/drawingml/2006/main">
            <a:pPr>
              <a:spcAft>
                <a:spcPts val="6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t>全国推广</a:t>
            </a:r>
            <a:br/>
            <a:r>
              <a:t>Scale-up</a:t>
            </a:r>
          </a:p>
          <a:p xmlns:a="http://schemas.openxmlformats.org/drawingml/2006/main">
            <a:pPr>
              <a:buNone/>
              <a:defRPr sz="11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规模化部署 + 生态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FF9ABF0-EA89-480B-8F26-E7BA946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44768"/>
            <a:ext cx="1072865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边界声明 Boundary: 逻辑站点 · Logical Sites — planned milestones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E27DF7-C167-4CA7-9344-C56A8DCD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18 / 20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9FA64C3-44C9-4D30-9BA5-85A820D9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4519707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37CC725-5129-44FE-8561-08F9F077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11C750D-5513-4E39-9F0B-1EDD648D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27432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4006C1-AA62-42F0-9CF4-7FD9002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COLLABORATION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D2F3FEC-90C6-44E9-AD6D-1D1A6237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4360"/>
            <a:ext cx="1072865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合作请求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25D98E-495E-4035-B3BF-B031D418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1072865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Collaboration Request — What We Need, What We Offer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7A70CC-AEE4-4D00-B99E-DDF094D8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1072865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寻求战略合作伙伴共建罕见病科研生态  |  Seeking strategic partners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65A039C-6437-429F-90FA-79D8E69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54864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8DB273B-056E-4B36-8FE5-1E5C5FF3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4892040" cy="38404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12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我们需要 We Need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医院合作伙伴 Hospital Partners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提供试点场景与数据治理经验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NVIDIA技术支持 NVIDIA Support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FLARE/MONAI深度技术指导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Inception生态 Ecosystem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品牌背书与医疗生态对接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种子轮资金 Seed Funding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支持全职开发与规模化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FFAB4F0-CFB1-49CD-AF3C-FC8F1B31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54864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141EAB1-D29F-4FB3-BFF6-59048674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4892040" cy="38404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161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74320" t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1200"/>
              </a:spcAft>
              <a:buNone/>
              <a:defRPr sz="22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我们提供 We Offer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开源技术栈 Open Source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MIT协议，完整文档与部署指南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联合发表 Joint Publications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多中心研究成果共同署名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临床工具 Clinical Tools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可直接部署的科研分析平台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  数据合规 Compliance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40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     端到端隐私保护与审计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767F74-A0A2-48F5-AE41-14CCDA92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19 / 20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03E0BDC-E3C5-42B3-9B24-FAD9AF66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44652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RareLink 稀联 | 投资路演 + DGX Spark 黑客松</a:t>
            </a:r>
          </a:p>
        </p:txBody>
      </p:sp>
    </p:spTree>
    <p:extLst>
      <p:ext uri="{BB962C8B-B14F-4D97-AF65-F5344CB8AC3E}">
        <p14:creationId xmlns:p14="http://schemas.microsoft.com/office/powerpoint/2010/main" val="17766241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A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579D6F-D375-4E51-A54F-19088C2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E5D4F66-8FF2-4BDE-BE80-FAA7C299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-914400"/>
            <a:ext cx="10058400" cy="822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C818316-868D-4CE5-B489-E2F82D95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45920"/>
            <a:ext cx="18288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C1750FD-9E4D-4442-B1E0-0A10BFD4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024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THANK YOU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7CC8A09-DC2E-4058-B90F-DACFA639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77440"/>
            <a:ext cx="1219169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RareLink 稀联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32DE810-87CC-4F14-9D4A-1A644D7D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83280"/>
            <a:ext cx="9445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t>让数据不动，知识流动  ·  Data Stays Local, Knowledge Flows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1BF102-0F06-4A50-B028-447DF105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0480"/>
            <a:ext cx="9445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让 Agent 发现医学证据  ·  Agents Discover Medical Evidence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2DEBC45-EE33-44B6-B05D-8EF88EA0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80560"/>
            <a:ext cx="36576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A"/>
          </a:solidFill>
          <a:ln xmlns:a="http://schemas.openxmlformats.org/drawingml/2006/main" w="19050">
            <a:solidFill>
              <a:srgbClr val="6B6B7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[ 团队合影 Team Photo ]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374E08-D2D8-45F7-AE1B-2C161273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916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Team RareLink  |  contact@rarelink.ai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01EA1A3-D2C2-42D3-BB13-885009D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92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76B900"/>
                </a:solidFill>
                <a:latin typeface="Arial"/>
                <a:ea typeface="Arial"/>
                <a:cs typeface="Arial"/>
              </a:defRPr>
            </a:pPr>
            <a:r>
              <a:t>加入我们，让罕见病研究不再罕见  |  Join us — make rare disease research less rare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19F5A1E-3CED-4B7D-AB13-77594C58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6480"/>
            <a:ext cx="1219169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本页部分内容由AI辅助生成  |  Some content AI-assisted per platform guidelines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5A110EC-A487-454C-8DDE-4DC3AF6A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0">
                <a:solidFill>
                  <a:srgbClr val="6B6B70"/>
                </a:solidFill>
                <a:latin typeface="Arial"/>
                <a:ea typeface="Arial"/>
                <a:cs typeface="Arial"/>
              </a:defRPr>
            </a:pPr>
            <a:r>
              <a:t>NVIDIA Inception  |  DGX Spark Hackathon</a:t>
            </a:r>
          </a:p>
        </p:txBody>
      </p:sp>
    </p:spTree>
    <p:extLst>
      <p:ext uri="{BB962C8B-B14F-4D97-AF65-F5344CB8AC3E}">
        <p14:creationId xmlns:p14="http://schemas.microsoft.com/office/powerpoint/2010/main" val="20578063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2026-07-20T02:12:06.0200000Z</dcterms:created>
  <dcterms:modified xsi:type="dcterms:W3CDTF">2026-07-20T02:12:06.0200000Z</dcterms:modified>
</coreProperties>
</file>